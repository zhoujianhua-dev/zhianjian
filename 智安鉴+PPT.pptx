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83" r:id="rId7"/>
    <p:sldId id="259" r:id="rId8"/>
    <p:sldId id="260" r:id="rId9"/>
    <p:sldId id="279" r:id="rId10"/>
    <p:sldId id="263" r:id="rId11"/>
    <p:sldId id="277" r:id="rId12"/>
    <p:sldId id="264" r:id="rId13"/>
    <p:sldId id="281" r:id="rId14"/>
    <p:sldId id="262" r:id="rId15"/>
    <p:sldId id="265" r:id="rId16"/>
    <p:sldId id="282" r:id="rId17"/>
    <p:sldId id="266" r:id="rId18"/>
    <p:sldId id="267" r:id="rId19"/>
    <p:sldId id="268" r:id="rId20"/>
    <p:sldId id="269" r:id="rId21"/>
    <p:sldId id="270" r:id="rId22"/>
    <p:sldId id="271" r:id="rId2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D86"/>
    <a:srgbClr val="0091FE"/>
    <a:srgbClr val="BDDEFF"/>
    <a:srgbClr val="33A5FE"/>
    <a:srgbClr val="8FE0FF"/>
    <a:srgbClr val="FFD7C1"/>
    <a:srgbClr val="3E91F8"/>
    <a:srgbClr val="99CCFF"/>
    <a:srgbClr val="0ABBD8"/>
    <a:srgbClr val="09F5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97" autoAdjust="0"/>
    <p:restoredTop sz="94660"/>
  </p:normalViewPr>
  <p:slideViewPr>
    <p:cSldViewPr snapToGrid="0" showGuides="1">
      <p:cViewPr varScale="1">
        <p:scale>
          <a:sx n="104" d="100"/>
          <a:sy n="104" d="100"/>
        </p:scale>
        <p:origin x="224"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各位评委老师好，我们是鉴锋战队，今天带来的作品是"智安鉴——智能安全检测与漏洞报告系统"。</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这是一个基于AI、RAG技术和CVSS量化评分的本地化漏洞报告自动化生成平台。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接下来我将从行业背景、系统架构、核心功能、关键技术、测试验证和创新特色六个方面进行汇报。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今天的汇报将分为五个部分。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首先介绍行业背景与我们发现的核心痛点，然后展示项目概述和系统整体架构。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接着是重点部分——核心功能模块演示，包括真实系统界面。</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然后讲解关键技术实现和测试验证结果，最后总结创新特色和未来展望。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marL="0" indent="0" algn="l">
              <a:lnSpc>
                <a:spcPct val="100000"/>
              </a:lnSpc>
            </a:pPr>
            <a:r>
              <a:rPr lang="en-US" sz="1400" b="0" i="0" u="none" strike="noStrike">
                <a:solidFill>
                  <a:srgbClr val="000000"/>
                </a:solidFill>
                <a:latin typeface="Songti SC"/>
                <a:ea typeface="Songti SC"/>
                <a:cs typeface="Songti SC"/>
                <a:sym typeface="Songti SC"/>
              </a:rPr>
              <a:t>在网络安全攻防演练和渗透测试工作中，漏洞报告是交付成果的核心载体。</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但我们发现行业存在四大痛点：第一，漏洞等级判定依赖个人经验，缺乏统一量化标准；第二，交付质量不可控，缺字段、缺证据、整改建议空泛，缺少自动化质检；第三，直接使用大模型生成报告容易产生"幻觉"，与单位既有整改口径不一致；第四，探测、研判、报告、整改四类工具相互割裂，数据反复搬运，无法全生命周期跟踪。</a:t>
            </a:r>
            <a:endParaRPr lang="en-US" sz="1400" b="0" i="0" u="none" strike="noStrike">
              <a:solidFill>
                <a:srgbClr val="000000"/>
              </a:solidFill>
              <a:latin typeface="Songti SC"/>
              <a:ea typeface="Songti SC"/>
              <a:cs typeface="Songti SC"/>
              <a:sym typeface="Songti SC"/>
            </a:endParaRPr>
          </a:p>
          <a:p>
            <a:pPr marL="0" indent="0" algn="l">
              <a:lnSpc>
                <a:spcPct val="100000"/>
              </a:lnSpc>
            </a:pPr>
            <a:r>
              <a:rPr lang="en-US" sz="1400" b="0" i="0" u="none" strike="noStrike">
                <a:solidFill>
                  <a:srgbClr val="000000"/>
                </a:solidFill>
                <a:latin typeface="Songti SC"/>
                <a:ea typeface="Songti SC"/>
                <a:cs typeface="Songti SC"/>
                <a:sym typeface="Songti SC"/>
              </a:rPr>
              <a:t>因此市场需要一款同时满足本地安全、模板定制、AI辅助、质量可量化与扫描报告一体化的解决方案。</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我们的项目目标是构建一个"扫描—研判—报告—闭环"的一站式漏洞治理平台。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系统的核心数据流水线从资产台账开始，通过内置扫描引擎发起扫描，结果自动归一化解析，再由AI结合本地RAG进行智能研判，经过CVSS量化评分和质量体检后，通过多模板导出Word/PDF报告。</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导出后还进入整改闭环，跟踪从待整改到复测通过的全生命周期。</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系统具备四大核心能力：AI+RAG双驱动、CVSS量化、规则+AI双引擎质检、全本地部署。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系统采用经典的B/S三层架构。展示层基于原生HTML5/CSS3/JavaScript构建响应式界面，使用fetch加SSE实现普通请求和AI流式输出。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业务层基于Python和Flask，按Blueprint划分为资产、域名、漏洞、报告、AI、工具箱、扫描器解析、系统设置等14个模块。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数据层采用SQLite，零外部数据库依赖，文档生成基于python-docx和reportlab。</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右侧是AI子系统的四大核心组件：兼容OpenAI协议的LLM客户端、无向量库的本地RAG检索器、CVSSv3.1规则计算器，以及报告质量规则引擎。</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整个系统轻量部署，普通办公PC即可流畅运行。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接下来是系统的另一组核心功能模块。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CVSSv3.1评分模块严格遵循FIRST.org官方规范，实现了随Scope变化的权重和roundup取整规则，输出分值、等级和向量串。</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报告质量体检模块用9个维度的可解释规则引擎加权扣分，输出0到100分和逐条改进建议，同时还能调用大模型给出专家级点评。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多模板导出模块内置三套公文样式，支持Word和PDF双格式，还有一个很有特色的功能——成品报告逆向生成模板，上传一份现成的docx就能自动解析字段映射。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AI漏洞扫描模块内置了扫描引擎，从发起扫描、进度跟踪到结果自动回收，全程无需导出导入，实现扫描到报告生成的一体化闭环。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AI智能引擎是我们系统的核心亮点之一。左侧是AI智能生成页的实际界面，用户粘贴Nuclei或Burp的扫描数据，AI就能自动整理为规范的报告字段。</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右侧是系统具备的四大AI能力：一键智能生成、本地RAG增强、AI安全专家Copilot、修复代码生成。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特别值得一提的是，我们设计了模拟模式，在没有API Key的环境下也能完整演示所有AI相关流程，这对比赛现场演示非常友好。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系统共包含14大功能模块，覆盖从资产到报告的完整链路。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首先是资产管理模块，支持单位和域名双资产台账，多种方式批量导入。</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漏洞知识库模块维护常见漏洞的完整信息，也是RAG检索的本地语料来源。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报告管理模块实现报告全生命周期管理，右侧就是报告管理页的实际界面，可以看到处置状态流转、质量体检等功能。</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扫描器智能解析模块能自动识别多种扫描工具输出格式，统一归一化后按严重程度聚合统计。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我们的系统不止于产出报告，更内置了漏洞处置全生命周期闭环，解决行业普遍存在的"只通报、不闭环"问题。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系统内置四态状态机：报告默认从"待整改"开始，依次流转为"整改中"、"已修复待复测"，最终到"复测通过"完成闭环。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如果复测不通过，可以退回"整改中"重新开始。后端会对流转路径做合法性校验，杜绝跨阶段跳变。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每次流转都会自动记录整改轨迹，仪表盘实时统计四态数量、处置推进率和复测闭环率。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我们的系统不止于产出报告，更内置了漏洞处置全生命周期闭环，解决行业普遍存在的"只通报、不闭环"问题。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系统内置四态状态机：报告默认从"待整改"开始，依次流转为"整改中"、"已修复待复测"，最终到"复测通过"完成闭环。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如果复测不通过，可以退回"整改中"重新开始。后端会对流转路径做合法性校验，杜绝跨阶段跳变。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每次流转都会自动记录整改轨迹，仪表盘实时统计四态数量、处置推进率和复测闭环率。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接下来是系统的另一组核心功能模块。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CVSSv3.1评分模块严格遵循FIRST.org官方规范，实现了随Scope变化的权重和roundup取整规则，输出分值、等级和向量串。</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报告质量体检模块用9个维度的可解释规则引擎加权扣分，输出0到100分和逐条改进建议，同时还能调用大模型给出专家级点评。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多模板导出模块内置三套公文样式，支持Word和PDF双格式，还有一个很有特色的功能——成品报告逆向生成模板，上传一份现成的docx就能自动解析字段映射。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AI漏洞扫描模块内置了扫描引擎，从发起扫描、进度跟踪到结果自动回收，全程无需导出导入，实现扫描到报告生成的一体化闭环。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这是我们系统的仪表盘页面，可以一屏总览整体安全态势。</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顶部是统计卡片，展示单位资产、域名资产、漏洞知识库和报告的数量。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中间是漏洞处置全生命周期闭环看板，用四种颜色的卡片展示待整改、整改中、已修复待复测和复测通过的数量，下面是处置推进率和复测闭环率的进度条。</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右侧是漏洞等级分布环形图，下方是近6个月报告趋势和最近报告列表。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整个仪表盘信息密度高，一目了然，非常适合安全负责人快速掌握整体情况。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这是我们系统的仪表盘页面，可以一屏总览整体安全态势。</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顶部是统计卡片，展示单位资产、域名资产、漏洞知识库和报告的数量。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中间是漏洞处置全生命周期闭环看板，用四种颜色的卡片展示待整改、整改中、已修复待复测和复测通过的数量，下面是处置推进率和复测闭环率的进度条。</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右侧是漏洞等级分布环形图，下方是近6个月报告趋势和最近报告列表。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整个仪表盘信息密度高，一目了然，非常适合安全负责人快速掌握整体情况。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接下来介绍我们的三大关键技术突破。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第一是异构扫描结果归一化。针对不同工具字段差异大的问题，我们采用格式特征识别加递归字段嗅探加严重程度词表归一的策略，把多源数据映射为统一结构。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第二是CVSSv3.1精确计算。我们完整实现了FIRST.org规范中的ISC Base公式，包括Scope改变和不变的两套公式，以及规范的roundup取整函数。经过验证，标准向量的分值与官方计算器完全一致。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第三是无向量库的本地RAG。我们用bigram切分加Jaccard式重合度加权来做知识召回，不需要外部向量数据库，零依赖、离线可用，响应是毫秒级的。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此外还有LLM结构化输出适配、Word/PDF双引擎渲染、系统自身安全防护等技术亮点。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交付前我们进行了全量端到端回归测试。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32个Python模块编译零错误，15个页面和15类接口全部正常响应，四类模板导出都通过了测试，目前没有已知的阻断性问题。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典型用例方面：CVSS评分的标准向量计算结果与FIRST.org官方计算器完全一致；资产联动功能实现了填地址自动识别域名、保存自动登记资产，而且是幂等去重的；漏洞处置四态流转正确，非法跳变会被后端拦截。</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我们还在清空数据和API Key的干净环境中复跑了全部冒烟用例，都通过了，证明评委解压后就能开箱运行。</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性能方面，服务启动不到2秒，单条报告导出不到1秒，RAG召回是毫秒级的，普通办公PC就能流畅运行。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我们的项目共有十大创新点，这里重点介绍六个最核心的。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第一，大模型加本地RAG双驱动，在没有外部向量数据库的条件下实现本地知识库相似度召回，显著降低大模型幻觉。</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第二，"规则兜底加AI增强"的质量体检，用可解释的规则引擎保证质量底线，再用AI专家点评提供高阶建议，首次把交付前自动质检引入漏洞报告生产链路。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第三，CVSSv3.1标准化量化，把主观的等级判断转为可复核的向量和分值。</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第四，成品报告逆向生成模板，上传一份现成的docx就能自动生成同版式的模板。</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第五，漏洞处置全生命周期闭环，从发现报告延伸到修复验证。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第六，扫描到生成的一体化流水线，内置扫描引擎，全程无需导出导入。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我们把智安鉴和市场上的三类主流方案做了横向对比。</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扫描器自带的报告功能格式固定，只能处理自身格式，没有智能研判和质检能力。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脚本化方案对使用者编程能力要求高，难以维护和普及。</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商业安全平台的报告模块通常和云端绑定，数据合规成本高，而且普遍缺少CVSS量化、交付前质量体检和本地知识库RAG这些环节。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综合来看，智安鉴在多源归一、CVSS量化、质量体检、本地RAG、双格式自定义模板和全流程AI辅助等方面形成了差异化的组合优势，同时保持了轻量本地部署和低上手门槛。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智安鉴的应用场景非常广泛，可以用于渗透测试团队的报告编制、高校网络安全实训、政企安全通报与等保测评，以及攻防演练的交付工作。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下一步我们将重点完善多用户权限与报告流转审批机制；把本地RAG升级为可管理的漏洞知识图谱，并支持反馈学习；扩展更多扫描器格式和批量自动复测功能；同时沉淀更多行业送检模板，探索模板市场。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从最初的12个模块扩展到现在的14个模块，我们实现了从"导入式报告生成"到"扫描—生成一体化"的能力升级。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智安鉴是我们团队花了大量心血打造的一款本地化智能漏洞报告生成系统，我们希望它能真正解决网络安全从业者在报告编制中的实际痛点。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感谢各位评委老师的聆听，欢迎提问和批评指正。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2.xml"/><Relationship Id="rId2" Type="http://schemas.microsoft.com/office/2007/relationships/hdphoto" Target="../media/image2.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alpha val="100000"/>
              </a:srgbClr>
            </a:gs>
            <a:gs pos="60000">
              <a:srgbClr val="142850">
                <a:alpha val="100000"/>
              </a:srgbClr>
            </a:gs>
            <a:gs pos="100000">
              <a:srgbClr val="2563EB">
                <a:alpha val="60000"/>
              </a:srgbClr>
            </a:gs>
          </a:gsLst>
          <a:lin ang="27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extLst>
              <a:ext uri="{BEBA8EAE-BF5A-486C-A8C5-ECC9F3942E4B}">
                <a14:imgProps xmlns:a14="http://schemas.microsoft.com/office/drawing/2010/main">
                  <a14:imgLayer r:embed="rId2">
                    <a14:imgEffect>
                      <a14:artisticPaintStrokes/>
                    </a14:imgEffect>
                  </a14:imgLayer>
                </a14:imgProps>
              </a:ext>
            </a:extLst>
          </a:blip>
          <a:srcRect t="12" b="12"/>
          <a:stretch>
            <a:fillRect/>
          </a:stretch>
        </p:blipFill>
        <p:spPr>
          <a:xfrm>
            <a:off x="0" y="0"/>
            <a:ext cx="12192000" cy="6858000"/>
          </a:xfrm>
          <a:prstGeom prst="rect">
            <a:avLst/>
          </a:prstGeom>
          <a:noFill/>
          <a:ln w="25400" cap="flat" cmpd="sng">
            <a:noFill/>
            <a:prstDash val="solid"/>
            <a:round/>
          </a:ln>
        </p:spPr>
      </p:pic>
      <p:sp>
        <p:nvSpPr>
          <p:cNvPr id="5" name="AutoShape 5"/>
          <p:cNvSpPr txBox="1"/>
          <p:nvPr/>
        </p:nvSpPr>
        <p:spPr>
          <a:xfrm>
            <a:off x="1212381" y="831040"/>
            <a:ext cx="3611232"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72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 安 鉴</a:t>
            </a:r>
            <a:endParaRPr lang="en-US" sz="1100" dirty="0"/>
          </a:p>
        </p:txBody>
      </p:sp>
      <p:sp>
        <p:nvSpPr>
          <p:cNvPr id="6" name="AutoShape 6"/>
          <p:cNvSpPr txBox="1"/>
          <p:nvPr/>
        </p:nvSpPr>
        <p:spPr>
          <a:xfrm>
            <a:off x="1212381" y="2257829"/>
            <a:ext cx="4274019"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err="1">
                <a:solidFill>
                  <a:srgbClr val="D1E8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智能安全检测与漏洞报告系统</a:t>
            </a:r>
            <a:endParaRPr lang="en-US" sz="1050" dirty="0">
              <a:solidFill>
                <a:srgbClr val="D1E8FF"/>
              </a:solidFill>
            </a:endParaRPr>
          </a:p>
        </p:txBody>
      </p:sp>
      <p:cxnSp>
        <p:nvCxnSpPr>
          <p:cNvPr id="8" name="Connector 8"/>
          <p:cNvCxnSpPr/>
          <p:nvPr/>
        </p:nvCxnSpPr>
        <p:spPr>
          <a:xfrm rot="-4297">
            <a:off x="1083510" y="5890371"/>
            <a:ext cx="10160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0" name="AutoShape 10"/>
          <p:cNvSpPr txBox="1"/>
          <p:nvPr/>
        </p:nvSpPr>
        <p:spPr>
          <a:xfrm>
            <a:off x="10236370" y="6146800"/>
            <a:ext cx="1215109" cy="381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400" b="1" i="0" u="none" strike="noStrike" dirty="0">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年 10 月</a:t>
            </a:r>
            <a:endParaRPr lang="en-US" sz="1100" b="1" dirty="0">
              <a:solidFill>
                <a:schemeClr val="bg1"/>
              </a:solidFill>
            </a:endParaRPr>
          </a:p>
        </p:txBody>
      </p:sp>
      <p:sp>
        <p:nvSpPr>
          <p:cNvPr id="11" name="AutoShape 8"/>
          <p:cNvSpPr txBox="1"/>
          <p:nvPr/>
        </p:nvSpPr>
        <p:spPr>
          <a:xfrm>
            <a:off x="531183" y="6185071"/>
            <a:ext cx="4139006" cy="371879"/>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gn="r">
              <a:lnSpc>
                <a:spcPct val="125000"/>
              </a:lnSpc>
              <a:defRPr b="1">
                <a:solidFill>
                  <a:schemeClr val="bg1"/>
                </a:solidFill>
                <a:latin typeface="Noto Sans SC" panose="020B0200000000000000" charset="-122"/>
                <a:ea typeface="Noto Sans SC" panose="020B0200000000000000" charset="-122"/>
                <a:cs typeface="Noto Sans SC" panose="020B0200000000000000" charset="-122"/>
              </a:defRPr>
            </a:lvl1p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762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cxnSp>
        <p:nvCxnSpPr>
          <p:cNvPr id="4" name="Connector 4"/>
          <p:cNvCxnSpPr/>
          <p:nvPr/>
        </p:nvCxnSpPr>
        <p:spPr>
          <a:xfrm rot="-57290">
            <a:off x="1016053" y="1517650"/>
            <a:ext cx="762000" cy="12700"/>
          </a:xfrm>
          <a:prstGeom prst="straightConnector1">
            <a:avLst/>
          </a:prstGeom>
          <a:solidFill>
            <a:srgbClr val="DEE0E3">
              <a:alpha val="100000"/>
            </a:srgbClr>
          </a:solidFill>
          <a:ln w="38100" cap="flat" cmpd="sng">
            <a:solidFill>
              <a:srgbClr val="2563EB">
                <a:alpha val="100000"/>
              </a:srgbClr>
            </a:solidFill>
            <a:prstDash val="solid"/>
            <a:round/>
            <a:headEnd type="none" w="lg" len="lg"/>
            <a:tailEnd type="none" w="lg" len="lg"/>
          </a:ln>
        </p:spPr>
      </p:cxnSp>
      <p:sp>
        <p:nvSpPr>
          <p:cNvPr id="5" name="AutoShape 5"/>
          <p:cNvSpPr txBox="1"/>
          <p:nvPr/>
        </p:nvSpPr>
        <p:spPr>
          <a:xfrm>
            <a:off x="1016000" y="196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txBox="1"/>
          <p:nvPr/>
        </p:nvSpPr>
        <p:spPr>
          <a:xfrm>
            <a:off x="1905000" y="2006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行业背景与痛点</a:t>
            </a:r>
            <a:endParaRPr lang="en-US" sz="1100"/>
          </a:p>
        </p:txBody>
      </p:sp>
      <p:sp>
        <p:nvSpPr>
          <p:cNvPr id="7" name="AutoShape 7"/>
          <p:cNvSpPr txBox="1"/>
          <p:nvPr/>
        </p:nvSpPr>
        <p:spPr>
          <a:xfrm>
            <a:off x="1905000" y="2451100"/>
            <a:ext cx="406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漏洞报告生成的现实困境与</a:t>
            </a:r>
            <a:r>
              <a:rPr lang="zh-CN" altLang="en-US" sz="13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四</a:t>
            </a:r>
            <a:r>
              <a:rPr lang="en-US" sz="13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大核心痛点</a:t>
            </a:r>
            <a:endParaRPr lang="en-US" sz="1100" dirty="0"/>
          </a:p>
        </p:txBody>
      </p:sp>
      <p:cxnSp>
        <p:nvCxnSpPr>
          <p:cNvPr id="8" name="Connector 8"/>
          <p:cNvCxnSpPr/>
          <p:nvPr/>
        </p:nvCxnSpPr>
        <p:spPr>
          <a:xfrm rot="-8594">
            <a:off x="1016008" y="2914650"/>
            <a:ext cx="508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9" name="AutoShape 9"/>
          <p:cNvSpPr txBox="1"/>
          <p:nvPr/>
        </p:nvSpPr>
        <p:spPr>
          <a:xfrm>
            <a:off x="1016000" y="3111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0" name="AutoShape 10"/>
          <p:cNvSpPr txBox="1"/>
          <p:nvPr/>
        </p:nvSpPr>
        <p:spPr>
          <a:xfrm>
            <a:off x="1905000" y="3149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项目概述与系统架构</a:t>
            </a:r>
            <a:endParaRPr lang="en-US" sz="1100"/>
          </a:p>
        </p:txBody>
      </p:sp>
      <p:sp>
        <p:nvSpPr>
          <p:cNvPr id="11" name="AutoShape 11"/>
          <p:cNvSpPr txBox="1"/>
          <p:nvPr/>
        </p:nvSpPr>
        <p:spPr>
          <a:xfrm>
            <a:off x="1905000" y="3594100"/>
            <a:ext cx="406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本地化Web应用</a:t>
            </a:r>
            <a:r>
              <a:rPr lang="en-US" sz="13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B/</a:t>
            </a:r>
            <a:r>
              <a:rPr lang="en-US" sz="13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S三层架构</a:t>
            </a:r>
            <a:r>
              <a:rPr lang="en-US" sz="13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14大功能模块</a:t>
            </a:r>
            <a:endParaRPr lang="en-US" sz="1100" dirty="0"/>
          </a:p>
        </p:txBody>
      </p:sp>
      <p:cxnSp>
        <p:nvCxnSpPr>
          <p:cNvPr id="12" name="Connector 12"/>
          <p:cNvCxnSpPr/>
          <p:nvPr/>
        </p:nvCxnSpPr>
        <p:spPr>
          <a:xfrm rot="-8594">
            <a:off x="1016008" y="4057650"/>
            <a:ext cx="508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13" name="AutoShape 13"/>
          <p:cNvSpPr txBox="1"/>
          <p:nvPr/>
        </p:nvSpPr>
        <p:spPr>
          <a:xfrm>
            <a:off x="1016000" y="4254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4" name="AutoShape 14"/>
          <p:cNvSpPr txBox="1"/>
          <p:nvPr/>
        </p:nvSpPr>
        <p:spPr>
          <a:xfrm>
            <a:off x="1905000" y="4292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核心功能模块</a:t>
            </a:r>
            <a:endParaRPr lang="en-US" sz="1100"/>
          </a:p>
        </p:txBody>
      </p:sp>
      <p:sp>
        <p:nvSpPr>
          <p:cNvPr id="15" name="AutoShape 15"/>
          <p:cNvSpPr txBox="1"/>
          <p:nvPr/>
        </p:nvSpPr>
        <p:spPr>
          <a:xfrm>
            <a:off x="1905000" y="4737100"/>
            <a:ext cx="406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资产·扫描·报告·评分·AI生成·质检·导出·闭环</a:t>
            </a:r>
            <a:endParaRPr lang="en-US" sz="1100"/>
          </a:p>
        </p:txBody>
      </p:sp>
      <p:cxnSp>
        <p:nvCxnSpPr>
          <p:cNvPr id="16" name="Connector 16"/>
          <p:cNvCxnSpPr/>
          <p:nvPr/>
        </p:nvCxnSpPr>
        <p:spPr>
          <a:xfrm rot="-8594">
            <a:off x="1016008" y="5200650"/>
            <a:ext cx="508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17" name="AutoShape 17"/>
          <p:cNvSpPr txBox="1"/>
          <p:nvPr/>
        </p:nvSpPr>
        <p:spPr>
          <a:xfrm>
            <a:off x="6604000" y="1968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8" name="AutoShape 18"/>
          <p:cNvSpPr txBox="1"/>
          <p:nvPr/>
        </p:nvSpPr>
        <p:spPr>
          <a:xfrm>
            <a:off x="7493000" y="2006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关键技术与测试验证</a:t>
            </a:r>
            <a:endParaRPr lang="en-US" sz="1100"/>
          </a:p>
        </p:txBody>
      </p:sp>
      <p:sp>
        <p:nvSpPr>
          <p:cNvPr id="19" name="AutoShape 19"/>
          <p:cNvSpPr txBox="1"/>
          <p:nvPr/>
        </p:nvSpPr>
        <p:spPr>
          <a:xfrm>
            <a:off x="7493000" y="2451100"/>
            <a:ext cx="406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AI+RAG+CVSS技术栈</a:t>
            </a:r>
            <a:r>
              <a:rPr lang="en-US" sz="13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7大关键技术 · </a:t>
            </a:r>
            <a:r>
              <a:rPr lang="en-US" sz="13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全量回归</a:t>
            </a:r>
            <a:endParaRPr lang="en-US" sz="1100" dirty="0"/>
          </a:p>
        </p:txBody>
      </p:sp>
      <p:cxnSp>
        <p:nvCxnSpPr>
          <p:cNvPr id="20" name="Connector 20"/>
          <p:cNvCxnSpPr/>
          <p:nvPr/>
        </p:nvCxnSpPr>
        <p:spPr>
          <a:xfrm rot="-9549">
            <a:off x="6604009" y="2914650"/>
            <a:ext cx="4572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21" name="AutoShape 21"/>
          <p:cNvSpPr txBox="1"/>
          <p:nvPr/>
        </p:nvSpPr>
        <p:spPr>
          <a:xfrm>
            <a:off x="6604000" y="3111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2" name="AutoShape 22"/>
          <p:cNvSpPr txBox="1"/>
          <p:nvPr/>
        </p:nvSpPr>
        <p:spPr>
          <a:xfrm>
            <a:off x="7493000" y="31496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创新特色与总结展望</a:t>
            </a:r>
            <a:endParaRPr lang="en-US" sz="1100"/>
          </a:p>
        </p:txBody>
      </p:sp>
      <p:sp>
        <p:nvSpPr>
          <p:cNvPr id="23" name="AutoShape 23"/>
          <p:cNvSpPr txBox="1"/>
          <p:nvPr/>
        </p:nvSpPr>
        <p:spPr>
          <a:xfrm>
            <a:off x="7493000" y="3594100"/>
            <a:ext cx="406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9大创新点 · </a:t>
            </a:r>
            <a:r>
              <a:rPr lang="en-US" sz="13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竞品对比</a:t>
            </a:r>
            <a:r>
              <a:rPr lang="en-US" sz="13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3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应用前景与未来规划</a:t>
            </a:r>
            <a:endParaRPr lang="en-US" sz="1100" dirty="0"/>
          </a:p>
        </p:txBody>
      </p:sp>
      <p:cxnSp>
        <p:nvCxnSpPr>
          <p:cNvPr id="24" name="Connector 24"/>
          <p:cNvCxnSpPr/>
          <p:nvPr/>
        </p:nvCxnSpPr>
        <p:spPr>
          <a:xfrm rot="-9549">
            <a:off x="6604009" y="4057650"/>
            <a:ext cx="4572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25" name="AutoShape 25"/>
          <p:cNvSpPr txBox="1"/>
          <p:nvPr/>
        </p:nvSpPr>
        <p:spPr>
          <a:xfrm>
            <a:off x="6350000" y="4445000"/>
            <a:ext cx="533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6000" b="1" i="0" u="none" strike="noStrike" dirty="0">
                <a:solidFill>
                  <a:srgbClr val="2563EB">
                    <a:alpha val="7843"/>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dirty="0"/>
          </a:p>
        </p:txBody>
      </p:sp>
      <p:cxnSp>
        <p:nvCxnSpPr>
          <p:cNvPr id="26" name="Connector 26"/>
          <p:cNvCxnSpPr/>
          <p:nvPr/>
        </p:nvCxnSpPr>
        <p:spPr>
          <a:xfrm rot="-4297">
            <a:off x="1016004" y="6216650"/>
            <a:ext cx="10160000" cy="12700"/>
          </a:xfrm>
          <a:prstGeom prst="straightConnector1">
            <a:avLst/>
          </a:prstGeom>
          <a:solidFill>
            <a:srgbClr val="DEE0E3">
              <a:alpha val="100000"/>
            </a:srgbClr>
          </a:solidFill>
          <a:ln w="12700" cap="flat" cmpd="sng">
            <a:solidFill>
              <a:srgbClr val="C8CDD7">
                <a:alpha val="100000"/>
              </a:srgbClr>
            </a:solidFill>
            <a:prstDash val="solid"/>
            <a:round/>
            <a:headEnd type="none" w="med" len="med"/>
            <a:tailEnd type="none" w="med" len="med"/>
          </a:ln>
        </p:spPr>
      </p:cxnSp>
      <p:sp>
        <p:nvSpPr>
          <p:cNvPr id="27" name="AutoShape 27"/>
          <p:cNvSpPr txBox="1"/>
          <p:nvPr/>
        </p:nvSpPr>
        <p:spPr>
          <a:xfrm>
            <a:off x="1016000" y="63500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1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01 · 行业背景与痛点</a:t>
            </a:r>
            <a:endParaRPr lang="en-US" sz="110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28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漏洞报告生成高度依赖人工，存在四大核心痛点</a:t>
            </a:r>
            <a:endParaRPr lang="en-US" sz="110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6" name="AutoShape 6"/>
          <p:cNvSpPr txBox="1"/>
          <p:nvPr/>
        </p:nvSpPr>
        <p:spPr>
          <a:xfrm>
            <a:off x="1016000" y="1841500"/>
            <a:ext cx="1016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a:solidFill>
                  <a:srgbClr val="2626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262626"/>
                </a:solidFill>
                <a:latin typeface="Noto Sans SC" panose="020B0200000000000000" charset="-122"/>
                <a:ea typeface="Noto Sans SC" panose="020B0200000000000000" charset="-122"/>
                <a:cs typeface="Noto Sans SC" panose="020B0200000000000000" charset="-122"/>
                <a:sym typeface="Noto Sans SC" panose="020B0200000000000000" charset="-122"/>
              </a:rPr>
              <a:t>在攻防演练、渗透测试与等保测评中，漏洞报告是交付成果的核心载体。扫描工具输出的</a:t>
            </a:r>
            <a:r>
              <a:rPr lang="en-US" sz="1300" b="0" i="0" u="none" strike="noStrike" dirty="0">
                <a:solidFill>
                  <a:srgbClr val="262626"/>
                </a:solidFill>
                <a:latin typeface="Noto Sans SC" panose="020B0200000000000000" charset="-122"/>
                <a:ea typeface="Noto Sans SC" panose="020B0200000000000000" charset="-122"/>
                <a:cs typeface="Noto Sans SC" panose="020B0200000000000000" charset="-122"/>
                <a:sym typeface="Noto Sans SC" panose="020B0200000000000000" charset="-122"/>
              </a:rPr>
              <a:t> JSON/JSONL </a:t>
            </a:r>
            <a:r>
              <a:rPr lang="en-US" sz="1300" b="0" i="0" u="none" strike="noStrike" dirty="0" err="1">
                <a:solidFill>
                  <a:srgbClr val="262626"/>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结构化数据，距离可直接交付的正式报告仍有较大差距；BurpSuite</a:t>
            </a:r>
            <a:r>
              <a:rPr lang="en-US" sz="1300" b="0" i="0" u="none" strike="noStrike" dirty="0">
                <a:solidFill>
                  <a:srgbClr val="2626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262626"/>
                </a:solidFill>
                <a:latin typeface="Noto Sans SC" panose="020B0200000000000000" charset="-122"/>
                <a:ea typeface="Noto Sans SC" panose="020B0200000000000000" charset="-122"/>
                <a:cs typeface="Noto Sans SC" panose="020B0200000000000000" charset="-122"/>
                <a:sym typeface="Noto Sans SC" panose="020B0200000000000000" charset="-122"/>
              </a:rPr>
              <a:t>等工具模板定制能力有限，难以满足政企公文格式要求</a:t>
            </a:r>
            <a:r>
              <a:rPr lang="en-US" sz="1300" b="0" i="0" u="none" strike="noStrike" dirty="0">
                <a:solidFill>
                  <a:srgbClr val="2626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7" name="AutoShape 7"/>
          <p:cNvSpPr txBox="1"/>
          <p:nvPr/>
        </p:nvSpPr>
        <p:spPr>
          <a:xfrm>
            <a:off x="889000" y="2984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dirty="0"/>
          </a:p>
        </p:txBody>
      </p:sp>
      <p:sp>
        <p:nvSpPr>
          <p:cNvPr id="8" name="AutoShape 8"/>
          <p:cNvSpPr txBox="1"/>
          <p:nvPr/>
        </p:nvSpPr>
        <p:spPr>
          <a:xfrm>
            <a:off x="952500" y="34925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等级判定主观</a:t>
            </a:r>
            <a:endParaRPr lang="en-US" sz="1100"/>
          </a:p>
        </p:txBody>
      </p:sp>
      <p:sp>
        <p:nvSpPr>
          <p:cNvPr id="9" name="AutoShape 9"/>
          <p:cNvSpPr txBox="1"/>
          <p:nvPr/>
        </p:nvSpPr>
        <p:spPr>
          <a:xfrm>
            <a:off x="952500" y="3873500"/>
            <a:ext cx="2222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漏洞等级依赖工程师个人经验，缺乏统一、可复核的量化标准，不同人判定结果差异大。</a:t>
            </a:r>
            <a:endParaRPr lang="en-US" sz="1100"/>
          </a:p>
        </p:txBody>
      </p:sp>
      <p:cxnSp>
        <p:nvCxnSpPr>
          <p:cNvPr id="10" name="Connector 10"/>
          <p:cNvCxnSpPr/>
          <p:nvPr/>
        </p:nvCxnSpPr>
        <p:spPr>
          <a:xfrm rot="5377821">
            <a:off x="2508250" y="3962420"/>
            <a:ext cx="19685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11" name="AutoShape 11"/>
          <p:cNvSpPr txBox="1"/>
          <p:nvPr/>
        </p:nvSpPr>
        <p:spPr>
          <a:xfrm>
            <a:off x="3683000" y="2984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txBox="1"/>
          <p:nvPr/>
        </p:nvSpPr>
        <p:spPr>
          <a:xfrm>
            <a:off x="3746500" y="34925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交付质量不可控</a:t>
            </a:r>
            <a:endParaRPr lang="en-US" sz="1100"/>
          </a:p>
        </p:txBody>
      </p:sp>
      <p:sp>
        <p:nvSpPr>
          <p:cNvPr id="13" name="AutoShape 13"/>
          <p:cNvSpPr txBox="1"/>
          <p:nvPr/>
        </p:nvSpPr>
        <p:spPr>
          <a:xfrm>
            <a:off x="3746500" y="3873500"/>
            <a:ext cx="2222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字段缺失、证据不足、整改建议空泛，质量审核完全依赖人工抽检，返工率高。</a:t>
            </a:r>
            <a:endParaRPr lang="en-US" sz="1100"/>
          </a:p>
        </p:txBody>
      </p:sp>
      <p:cxnSp>
        <p:nvCxnSpPr>
          <p:cNvPr id="14" name="Connector 14"/>
          <p:cNvCxnSpPr/>
          <p:nvPr/>
        </p:nvCxnSpPr>
        <p:spPr>
          <a:xfrm rot="5377821">
            <a:off x="5302250" y="3962420"/>
            <a:ext cx="19685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15" name="AutoShape 15"/>
          <p:cNvSpPr txBox="1"/>
          <p:nvPr/>
        </p:nvSpPr>
        <p:spPr>
          <a:xfrm>
            <a:off x="6477000" y="2984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6" name="AutoShape 16"/>
          <p:cNvSpPr txBox="1"/>
          <p:nvPr/>
        </p:nvSpPr>
        <p:spPr>
          <a:xfrm>
            <a:off x="6540500" y="34925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大模型幻觉突出</a:t>
            </a:r>
            <a:endParaRPr lang="en-US" sz="1100"/>
          </a:p>
        </p:txBody>
      </p:sp>
      <p:sp>
        <p:nvSpPr>
          <p:cNvPr id="17" name="AutoShape 17"/>
          <p:cNvSpPr txBox="1"/>
          <p:nvPr/>
        </p:nvSpPr>
        <p:spPr>
          <a:xfrm>
            <a:off x="6540500" y="3873500"/>
            <a:ext cx="2222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通用大模型直接生成易产生与单位既有整改规范不一致的幻觉，AI产出无法直接落地。</a:t>
            </a:r>
            <a:endParaRPr lang="en-US" sz="1100"/>
          </a:p>
        </p:txBody>
      </p:sp>
      <p:cxnSp>
        <p:nvCxnSpPr>
          <p:cNvPr id="18" name="Connector 18"/>
          <p:cNvCxnSpPr/>
          <p:nvPr/>
        </p:nvCxnSpPr>
        <p:spPr>
          <a:xfrm rot="5377821">
            <a:off x="8096250" y="3962420"/>
            <a:ext cx="19685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19" name="AutoShape 19"/>
          <p:cNvSpPr txBox="1"/>
          <p:nvPr/>
        </p:nvSpPr>
        <p:spPr>
          <a:xfrm>
            <a:off x="9271000" y="2984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0" name="AutoShape 20"/>
          <p:cNvSpPr txBox="1"/>
          <p:nvPr/>
        </p:nvSpPr>
        <p:spPr>
          <a:xfrm>
            <a:off x="9334500" y="34925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工具链割裂</a:t>
            </a:r>
            <a:endParaRPr lang="en-US" sz="1100"/>
          </a:p>
        </p:txBody>
      </p:sp>
      <p:sp>
        <p:nvSpPr>
          <p:cNvPr id="21" name="AutoShape 21"/>
          <p:cNvSpPr txBox="1"/>
          <p:nvPr/>
        </p:nvSpPr>
        <p:spPr>
          <a:xfrm>
            <a:off x="9334500" y="3873500"/>
            <a:ext cx="2222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探测、研判、报告、整改四类工具相互独立，数据反复搬运效率低，无法全生命周期跟踪。</a:t>
            </a:r>
            <a:endParaRPr lang="en-US" sz="1100"/>
          </a:p>
        </p:txBody>
      </p:sp>
      <p:cxnSp>
        <p:nvCxnSpPr>
          <p:cNvPr id="22" name="Connector 22"/>
          <p:cNvCxnSpPr/>
          <p:nvPr/>
        </p:nvCxnSpPr>
        <p:spPr>
          <a:xfrm rot="-4297">
            <a:off x="1016004" y="5454650"/>
            <a:ext cx="101600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none" w="lg" len="lg"/>
          </a:ln>
        </p:spPr>
      </p:cxnSp>
      <p:sp>
        <p:nvSpPr>
          <p:cNvPr id="23" name="AutoShape 23"/>
          <p:cNvSpPr txBox="1"/>
          <p:nvPr/>
        </p:nvSpPr>
        <p:spPr>
          <a:xfrm>
            <a:off x="1016000" y="5651500"/>
            <a:ext cx="990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核心需求：</a:t>
            </a:r>
            <a:r>
              <a:rPr lang="en-US" sz="15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本地数据安全</a:t>
            </a:r>
            <a:r>
              <a:rPr lang="en-US" sz="1500" b="1"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5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模板高度可定制</a:t>
            </a:r>
            <a:r>
              <a:rPr lang="en-US" sz="1500" b="1"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 AI </a:t>
            </a:r>
            <a:r>
              <a:rPr lang="en-US" sz="15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智能辅助</a:t>
            </a:r>
            <a:r>
              <a:rPr lang="en-US" sz="1500" b="1"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5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质量可量化</a:t>
            </a:r>
            <a:r>
              <a:rPr lang="en-US" sz="1500" b="1"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5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扫描</a:t>
            </a:r>
            <a:r>
              <a:rPr lang="en-US" sz="1500" b="1"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500" b="1" i="0" u="none" strike="noStrike" dirty="0" err="1">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报告一体化闭环</a:t>
            </a:r>
            <a:endParaRPr lang="en-US" sz="1100" dirty="0"/>
          </a:p>
        </p:txBody>
      </p:sp>
      <p:sp>
        <p:nvSpPr>
          <p:cNvPr id="24" name="AutoShape 24"/>
          <p:cNvSpPr txBox="1"/>
          <p:nvPr/>
        </p:nvSpPr>
        <p:spPr>
          <a:xfrm>
            <a:off x="1016000" y="6350000"/>
            <a:ext cx="5080000" cy="254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02 · 项目概述与目标</a:t>
            </a:r>
            <a:endParaRPr lang="en-US" sz="110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构建“扫描</a:t>
            </a:r>
            <a:r>
              <a:rPr lang="en-US" sz="2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28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研判</a:t>
            </a:r>
            <a:r>
              <a:rPr lang="en-US" sz="2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28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a:t>
            </a:r>
            <a:r>
              <a:rPr lang="en-US" sz="2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—闭</a:t>
            </a:r>
            <a:r>
              <a:rPr lang="zh-CN" altLang="en-US" sz="2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28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一站式漏洞治理平台</a:t>
            </a:r>
            <a:endParaRPr lang="en-US" sz="1100" dirty="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6" name="AutoShape 6"/>
          <p:cNvSpPr txBox="1"/>
          <p:nvPr/>
        </p:nvSpPr>
        <p:spPr>
          <a:xfrm>
            <a:off x="1057254" y="1765307"/>
            <a:ext cx="9393908" cy="635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智安鉴以本地化</a:t>
            </a:r>
            <a:r>
              <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Web </a:t>
            </a:r>
            <a:r>
              <a:rPr lang="en-US" sz="12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应用为载体，围绕"资产管理</a:t>
            </a:r>
            <a:r>
              <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漏洞治理</a:t>
            </a:r>
            <a:r>
              <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智能研判</a:t>
            </a:r>
            <a:r>
              <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报告生成"闭环，提供资产台账、漏洞知识库、报告结构化管理、Word</a:t>
            </a:r>
            <a:r>
              <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/PDF </a:t>
            </a:r>
            <a:r>
              <a:rPr lang="en-US" sz="12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多模板导出等能力，实施漏洞全生命周期跟踪</a:t>
            </a:r>
            <a:r>
              <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050" dirty="0"/>
          </a:p>
        </p:txBody>
      </p:sp>
      <p:sp>
        <p:nvSpPr>
          <p:cNvPr id="7" name="AutoShape 7"/>
          <p:cNvSpPr txBox="1"/>
          <p:nvPr/>
        </p:nvSpPr>
        <p:spPr>
          <a:xfrm>
            <a:off x="1016000" y="2794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核心数据流水线</a:t>
            </a:r>
            <a:endParaRPr lang="en-US" sz="1100"/>
          </a:p>
        </p:txBody>
      </p:sp>
      <p:sp>
        <p:nvSpPr>
          <p:cNvPr id="8" name="AutoShape 8"/>
          <p:cNvSpPr/>
          <p:nvPr/>
        </p:nvSpPr>
        <p:spPr>
          <a:xfrm>
            <a:off x="1016000" y="3302000"/>
            <a:ext cx="1270000" cy="635000"/>
          </a:xfrm>
          <a:prstGeom prst="roundRect">
            <a:avLst>
              <a:gd name="adj" fmla="val 16000"/>
            </a:avLst>
          </a:prstGeom>
        </p:spPr>
        <p:style>
          <a:lnRef idx="2">
            <a:schemeClr val="accent1"/>
          </a:lnRef>
          <a:fillRef idx="1">
            <a:schemeClr val="lt1"/>
          </a:fillRef>
          <a:effectRef idx="0">
            <a:schemeClr val="accent1"/>
          </a:effectRef>
          <a:fontRef idx="minor">
            <a:schemeClr val="dk1"/>
          </a:fontRef>
        </p:style>
        <p:txBody>
          <a:bodyPr vert="horz" wrap="square" lIns="63500" tIns="63500" rIns="63500" bIns="63500" rtlCol="0" anchor="ctr"/>
          <a:lstStyle/>
          <a:p>
            <a:pPr algn="ctr">
              <a:defRPr/>
            </a:pPr>
            <a:endParaRPr dirty="0"/>
          </a:p>
        </p:txBody>
      </p:sp>
      <p:sp>
        <p:nvSpPr>
          <p:cNvPr id="9" name="AutoShape 9"/>
          <p:cNvSpPr txBox="1"/>
          <p:nvPr/>
        </p:nvSpPr>
        <p:spPr>
          <a:xfrm>
            <a:off x="1016000" y="3429000"/>
            <a:ext cx="127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资产台账</a:t>
            </a:r>
            <a:endParaRPr lang="en-US" sz="1100"/>
          </a:p>
        </p:txBody>
      </p:sp>
      <p:cxnSp>
        <p:nvCxnSpPr>
          <p:cNvPr id="10" name="Connector 10"/>
          <p:cNvCxnSpPr/>
          <p:nvPr/>
        </p:nvCxnSpPr>
        <p:spPr>
          <a:xfrm rot="-114549">
            <a:off x="2286106" y="3613150"/>
            <a:ext cx="3810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arrow" w="lg" len="lg"/>
          </a:ln>
        </p:spPr>
      </p:cxnSp>
      <p:sp>
        <p:nvSpPr>
          <p:cNvPr id="11" name="AutoShape 11"/>
          <p:cNvSpPr/>
          <p:nvPr/>
        </p:nvSpPr>
        <p:spPr>
          <a:xfrm>
            <a:off x="2730500" y="3302000"/>
            <a:ext cx="1270000" cy="635000"/>
          </a:xfrm>
          <a:prstGeom prst="roundRect">
            <a:avLst>
              <a:gd name="adj" fmla="val 16000"/>
            </a:avLst>
          </a:prstGeom>
        </p:spPr>
        <p:style>
          <a:lnRef idx="2">
            <a:schemeClr val="accent1"/>
          </a:lnRef>
          <a:fillRef idx="1">
            <a:schemeClr val="lt1"/>
          </a:fillRef>
          <a:effectRef idx="0">
            <a:schemeClr val="accent1"/>
          </a:effectRef>
          <a:fontRef idx="minor">
            <a:schemeClr val="dk1"/>
          </a:fontRef>
        </p:style>
        <p:txBody>
          <a:bodyPr vert="horz" wrap="square" lIns="63500" tIns="63500" rIns="63500" bIns="63500" rtlCol="0" anchor="ctr"/>
          <a:lstStyle/>
          <a:p>
            <a:pPr algn="ctr">
              <a:defRPr/>
            </a:pPr>
            <a:endParaRPr dirty="0"/>
          </a:p>
        </p:txBody>
      </p:sp>
      <p:sp>
        <p:nvSpPr>
          <p:cNvPr id="12" name="AutoShape 12"/>
          <p:cNvSpPr txBox="1"/>
          <p:nvPr/>
        </p:nvSpPr>
        <p:spPr>
          <a:xfrm>
            <a:off x="2730500" y="3429000"/>
            <a:ext cx="127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内置扫描</a:t>
            </a:r>
            <a:endParaRPr lang="en-US" sz="1100"/>
          </a:p>
        </p:txBody>
      </p:sp>
      <p:cxnSp>
        <p:nvCxnSpPr>
          <p:cNvPr id="13" name="Connector 13"/>
          <p:cNvCxnSpPr/>
          <p:nvPr/>
        </p:nvCxnSpPr>
        <p:spPr>
          <a:xfrm rot="-114549">
            <a:off x="4000606" y="3613150"/>
            <a:ext cx="3810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arrow" w="lg" len="lg"/>
          </a:ln>
        </p:spPr>
      </p:cxnSp>
      <p:sp>
        <p:nvSpPr>
          <p:cNvPr id="14" name="AutoShape 14"/>
          <p:cNvSpPr/>
          <p:nvPr/>
        </p:nvSpPr>
        <p:spPr>
          <a:xfrm>
            <a:off x="4445000" y="3302000"/>
            <a:ext cx="1270000" cy="635000"/>
          </a:xfrm>
          <a:prstGeom prst="roundRect">
            <a:avLst>
              <a:gd name="adj" fmla="val 16000"/>
            </a:avLst>
          </a:prstGeom>
        </p:spPr>
        <p:style>
          <a:lnRef idx="2">
            <a:schemeClr val="accent1"/>
          </a:lnRef>
          <a:fillRef idx="1">
            <a:schemeClr val="lt1"/>
          </a:fillRef>
          <a:effectRef idx="0">
            <a:schemeClr val="accent1"/>
          </a:effectRef>
          <a:fontRef idx="minor">
            <a:schemeClr val="dk1"/>
          </a:fontRef>
        </p:style>
        <p:txBody>
          <a:bodyPr vert="horz" wrap="square" lIns="63500" tIns="63500" rIns="63500" bIns="63500" rtlCol="0" anchor="ctr"/>
          <a:lstStyle/>
          <a:p>
            <a:pPr algn="ctr">
              <a:defRPr/>
            </a:pPr>
          </a:p>
        </p:txBody>
      </p:sp>
      <p:sp>
        <p:nvSpPr>
          <p:cNvPr id="15" name="AutoShape 15"/>
          <p:cNvSpPr txBox="1"/>
          <p:nvPr/>
        </p:nvSpPr>
        <p:spPr>
          <a:xfrm>
            <a:off x="4445000" y="3429000"/>
            <a:ext cx="127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数据归一</a:t>
            </a:r>
            <a:endParaRPr lang="en-US" sz="1100"/>
          </a:p>
        </p:txBody>
      </p:sp>
      <p:cxnSp>
        <p:nvCxnSpPr>
          <p:cNvPr id="16" name="Connector 16"/>
          <p:cNvCxnSpPr/>
          <p:nvPr/>
        </p:nvCxnSpPr>
        <p:spPr>
          <a:xfrm rot="-114549">
            <a:off x="5715106" y="3613150"/>
            <a:ext cx="3810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arrow" w="lg" len="lg"/>
          </a:ln>
        </p:spPr>
      </p:cxnSp>
      <p:sp>
        <p:nvSpPr>
          <p:cNvPr id="17" name="AutoShape 17"/>
          <p:cNvSpPr/>
          <p:nvPr/>
        </p:nvSpPr>
        <p:spPr>
          <a:xfrm>
            <a:off x="6159500" y="3302000"/>
            <a:ext cx="1270000" cy="635000"/>
          </a:xfrm>
          <a:prstGeom prst="roundRect">
            <a:avLst>
              <a:gd name="adj" fmla="val 1600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txBox="1"/>
          <p:nvPr/>
        </p:nvSpPr>
        <p:spPr>
          <a:xfrm>
            <a:off x="6159500" y="3429000"/>
            <a:ext cx="127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en-US" sz="13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智能研判</a:t>
            </a:r>
            <a:endParaRPr lang="en-US" sz="1100" dirty="0"/>
          </a:p>
        </p:txBody>
      </p:sp>
      <p:cxnSp>
        <p:nvCxnSpPr>
          <p:cNvPr id="19" name="Connector 19"/>
          <p:cNvCxnSpPr/>
          <p:nvPr/>
        </p:nvCxnSpPr>
        <p:spPr>
          <a:xfrm rot="-114549">
            <a:off x="7429606" y="3613150"/>
            <a:ext cx="3810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arrow" w="lg" len="lg"/>
          </a:ln>
        </p:spPr>
      </p:cxnSp>
      <p:sp>
        <p:nvSpPr>
          <p:cNvPr id="20" name="AutoShape 20"/>
          <p:cNvSpPr/>
          <p:nvPr/>
        </p:nvSpPr>
        <p:spPr>
          <a:xfrm>
            <a:off x="7874000" y="3302000"/>
            <a:ext cx="1270000" cy="635000"/>
          </a:xfrm>
          <a:prstGeom prst="roundRect">
            <a:avLst>
              <a:gd name="adj" fmla="val 16000"/>
            </a:avLst>
          </a:prstGeom>
        </p:spPr>
        <p:style>
          <a:lnRef idx="2">
            <a:schemeClr val="accent1"/>
          </a:lnRef>
          <a:fillRef idx="1">
            <a:schemeClr val="lt1"/>
          </a:fillRef>
          <a:effectRef idx="0">
            <a:schemeClr val="accent1"/>
          </a:effectRef>
          <a:fontRef idx="minor">
            <a:schemeClr val="dk1"/>
          </a:fontRef>
        </p:style>
        <p:txBody>
          <a:bodyPr vert="horz" wrap="square" lIns="63500" tIns="63500" rIns="63500" bIns="63500" rtlCol="0" anchor="ctr"/>
          <a:lstStyle/>
          <a:p>
            <a:pPr algn="ctr">
              <a:defRPr/>
            </a:pPr>
          </a:p>
        </p:txBody>
      </p:sp>
      <p:sp>
        <p:nvSpPr>
          <p:cNvPr id="21" name="AutoShape 21"/>
          <p:cNvSpPr txBox="1"/>
          <p:nvPr/>
        </p:nvSpPr>
        <p:spPr>
          <a:xfrm>
            <a:off x="7874000" y="3429000"/>
            <a:ext cx="127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CVSS 评分</a:t>
            </a:r>
            <a:endParaRPr lang="en-US" sz="1100"/>
          </a:p>
        </p:txBody>
      </p:sp>
      <p:cxnSp>
        <p:nvCxnSpPr>
          <p:cNvPr id="22" name="Connector 22"/>
          <p:cNvCxnSpPr/>
          <p:nvPr/>
        </p:nvCxnSpPr>
        <p:spPr>
          <a:xfrm rot="-114549">
            <a:off x="9144106" y="3613150"/>
            <a:ext cx="3810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arrow" w="lg" len="lg"/>
          </a:ln>
        </p:spPr>
      </p:cxnSp>
      <p:sp>
        <p:nvSpPr>
          <p:cNvPr id="23" name="AutoShape 23"/>
          <p:cNvSpPr/>
          <p:nvPr/>
        </p:nvSpPr>
        <p:spPr>
          <a:xfrm>
            <a:off x="9588500" y="3302000"/>
            <a:ext cx="1524000" cy="635000"/>
          </a:xfrm>
          <a:prstGeom prst="roundRect">
            <a:avLst>
              <a:gd name="adj" fmla="val 16000"/>
            </a:avLst>
          </a:prstGeom>
        </p:spPr>
        <p:style>
          <a:lnRef idx="2">
            <a:schemeClr val="accent1"/>
          </a:lnRef>
          <a:fillRef idx="1">
            <a:schemeClr val="lt1"/>
          </a:fillRef>
          <a:effectRef idx="0">
            <a:schemeClr val="accent1"/>
          </a:effectRef>
          <a:fontRef idx="minor">
            <a:schemeClr val="dk1"/>
          </a:fontRef>
        </p:style>
        <p:txBody>
          <a:bodyPr vert="horz" wrap="square" lIns="63500" tIns="63500" rIns="63500" bIns="63500" rtlCol="0" anchor="ctr"/>
          <a:lstStyle/>
          <a:p>
            <a:pPr algn="ctr">
              <a:defRPr/>
            </a:pPr>
          </a:p>
        </p:txBody>
      </p:sp>
      <p:sp>
        <p:nvSpPr>
          <p:cNvPr id="24" name="AutoShape 24"/>
          <p:cNvSpPr txBox="1"/>
          <p:nvPr/>
        </p:nvSpPr>
        <p:spPr>
          <a:xfrm>
            <a:off x="9588500" y="3429000"/>
            <a:ext cx="152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质检 + 导出</a:t>
            </a:r>
            <a:endParaRPr lang="en-US" sz="1100"/>
          </a:p>
        </p:txBody>
      </p:sp>
      <p:sp>
        <p:nvSpPr>
          <p:cNvPr id="25" name="AutoShape 25"/>
          <p:cNvSpPr txBox="1"/>
          <p:nvPr/>
        </p:nvSpPr>
        <p:spPr>
          <a:xfrm>
            <a:off x="1016000" y="41910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导出后进入整改闭环：待整改 → 整改中 → 已修复待复测 → 复测通过（全生命周期跟踪）</a:t>
            </a:r>
            <a:endParaRPr lang="en-US" sz="1100"/>
          </a:p>
        </p:txBody>
      </p:sp>
      <p:cxnSp>
        <p:nvCxnSpPr>
          <p:cNvPr id="26" name="Connector 26"/>
          <p:cNvCxnSpPr/>
          <p:nvPr/>
        </p:nvCxnSpPr>
        <p:spPr>
          <a:xfrm rot="-4297">
            <a:off x="1016004" y="48196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27" name="AutoShape 27"/>
          <p:cNvSpPr txBox="1"/>
          <p:nvPr/>
        </p:nvSpPr>
        <p:spPr>
          <a:xfrm>
            <a:off x="1292161" y="512445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AI + RAG </a:t>
            </a:r>
            <a:r>
              <a:rPr lang="en-US" sz="13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双驱动</a:t>
            </a:r>
            <a:endParaRPr lang="en-US" sz="1100" dirty="0"/>
          </a:p>
          <a:p>
            <a:pPr marL="0" indent="0" algn="l">
              <a:lnSpc>
                <a:spcPct val="125000"/>
              </a:lnSpc>
            </a:pPr>
            <a:r>
              <a:rPr lang="en-US" sz="13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本地知识库增强，降低大模型幻觉</a:t>
            </a:r>
            <a:endParaRPr lang="en-US" sz="13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txBox="1"/>
          <p:nvPr/>
        </p:nvSpPr>
        <p:spPr>
          <a:xfrm>
            <a:off x="3683000" y="5080000"/>
            <a:ext cx="1840221"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CVSS v3.1 </a:t>
            </a:r>
            <a:r>
              <a:rPr lang="en-US" sz="13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量化</a:t>
            </a:r>
            <a:endParaRPr lang="en-US" sz="1100" dirty="0"/>
          </a:p>
          <a:p>
            <a:pPr marL="0" indent="0" algn="l">
              <a:lnSpc>
                <a:spcPct val="125000"/>
              </a:lnSpc>
            </a:pPr>
            <a:r>
              <a:rPr lang="en-US" sz="13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与 FIRST.org </a:t>
            </a:r>
            <a:r>
              <a:rPr lang="en-US" sz="13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官方一致的评分器</a:t>
            </a:r>
            <a:endParaRPr lang="en-US" sz="13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txBox="1"/>
          <p:nvPr/>
        </p:nvSpPr>
        <p:spPr>
          <a:xfrm>
            <a:off x="6350000" y="4965693"/>
            <a:ext cx="1977791"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规则</a:t>
            </a:r>
            <a:r>
              <a:rPr lang="en-US" sz="13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 AI </a:t>
            </a:r>
            <a:r>
              <a:rPr lang="en-US" sz="13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质检</a:t>
            </a:r>
            <a:endParaRPr lang="en-US" sz="1100" dirty="0"/>
          </a:p>
          <a:p>
            <a:pPr marL="0" indent="0" algn="l">
              <a:lnSpc>
                <a:spcPct val="125000"/>
              </a:lnSpc>
            </a:pPr>
            <a:r>
              <a:rPr lang="en-US" sz="13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9 </a:t>
            </a:r>
            <a:r>
              <a:rPr lang="en-US" sz="13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维规则引擎</a:t>
            </a:r>
            <a:r>
              <a:rPr lang="en-US" sz="13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AI </a:t>
            </a:r>
            <a:r>
              <a:rPr lang="en-US" sz="13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专家点评</a:t>
            </a:r>
            <a:endParaRPr lang="en-US" sz="13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30"/>
          <p:cNvSpPr txBox="1"/>
          <p:nvPr/>
        </p:nvSpPr>
        <p:spPr>
          <a:xfrm>
            <a:off x="9017000" y="4951217"/>
            <a:ext cx="1882839"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全本地部署</a:t>
            </a:r>
            <a:endParaRPr lang="en-US" sz="1100" dirty="0"/>
          </a:p>
          <a:p>
            <a:pPr marL="0" indent="0" algn="l">
              <a:lnSpc>
                <a:spcPct val="125000"/>
              </a:lnSpc>
            </a:pPr>
            <a:r>
              <a:rPr lang="en-US" sz="13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数据不出本机，开箱即用</a:t>
            </a:r>
            <a:endParaRPr lang="en-US" sz="13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1" name="AutoShape 31"/>
          <p:cNvSpPr txBox="1"/>
          <p:nvPr/>
        </p:nvSpPr>
        <p:spPr>
          <a:xfrm>
            <a:off x="1016000" y="63500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02 · 系统架构与设计</a:t>
            </a:r>
            <a:endParaRPr lang="en-US" sz="110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B/S 三层架构 + AI 子系统，轻量本地部署零外部依赖</a:t>
            </a:r>
            <a:endParaRPr lang="en-US" sz="110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6" name="AutoShape 6"/>
          <p:cNvSpPr/>
          <p:nvPr/>
        </p:nvSpPr>
        <p:spPr>
          <a:xfrm>
            <a:off x="1016000" y="1905000"/>
            <a:ext cx="6096000" cy="889000"/>
          </a:xfrm>
          <a:prstGeom prst="roundRect">
            <a:avLst>
              <a:gd name="adj" fmla="val 8571"/>
            </a:avLst>
          </a:prstGeom>
        </p:spPr>
        <p:style>
          <a:lnRef idx="2">
            <a:schemeClr val="accent5"/>
          </a:lnRef>
          <a:fillRef idx="1">
            <a:schemeClr val="lt1"/>
          </a:fillRef>
          <a:effectRef idx="0">
            <a:schemeClr val="accent5"/>
          </a:effectRef>
          <a:fontRef idx="minor">
            <a:schemeClr val="dk1"/>
          </a:fontRef>
        </p:style>
        <p:txBody>
          <a:bodyPr vert="horz" wrap="square" lIns="63500" tIns="63500" rIns="63500" bIns="63500" rtlCol="0" anchor="ctr"/>
          <a:lstStyle/>
          <a:p>
            <a:pPr algn="ctr">
              <a:defRPr/>
            </a:pPr>
            <a:endParaRPr dirty="0"/>
          </a:p>
        </p:txBody>
      </p:sp>
      <p:sp>
        <p:nvSpPr>
          <p:cNvPr id="7" name="AutoShape 7"/>
          <p:cNvSpPr txBox="1"/>
          <p:nvPr/>
        </p:nvSpPr>
        <p:spPr>
          <a:xfrm>
            <a:off x="1206500" y="2032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0070C0"/>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展示层</a:t>
            </a:r>
            <a:endParaRPr lang="en-US" sz="1100" dirty="0">
              <a:solidFill>
                <a:srgbClr val="0070C0"/>
              </a:solidFill>
            </a:endParaRPr>
          </a:p>
        </p:txBody>
      </p:sp>
      <p:sp>
        <p:nvSpPr>
          <p:cNvPr id="8" name="AutoShape 8"/>
          <p:cNvSpPr txBox="1"/>
          <p:nvPr/>
        </p:nvSpPr>
        <p:spPr>
          <a:xfrm>
            <a:off x="1206500" y="2349500"/>
            <a:ext cx="571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dirty="0" err="1">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原生</a:t>
            </a:r>
            <a:r>
              <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dirty="0">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HTML5 / CSS3 / JS · fetch + SSE </a:t>
            </a:r>
            <a:r>
              <a:rPr lang="en-US" sz="1200" dirty="0" err="1">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流式输出</a:t>
            </a:r>
            <a:r>
              <a:rPr lang="en-US" sz="1200" dirty="0">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 · </a:t>
            </a:r>
            <a:r>
              <a:rPr lang="en-US" sz="1200" dirty="0" err="1">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响应式界面</a:t>
            </a:r>
            <a:endParaRPr lang="en-US" sz="1200" dirty="0">
              <a:solidFill>
                <a:schemeClr val="tx1">
                  <a:lumMod val="85000"/>
                  <a:lumOff val="15000"/>
                </a:schemeClr>
              </a:solidFill>
              <a:latin typeface="Noto Sans SC" panose="020B0200000000000000" charset="-122"/>
              <a:ea typeface="Noto Sans SC" panose="020B0200000000000000" charset="-122"/>
            </a:endParaRPr>
          </a:p>
        </p:txBody>
      </p:sp>
      <p:sp>
        <p:nvSpPr>
          <p:cNvPr id="9" name="AutoShape 9"/>
          <p:cNvSpPr/>
          <p:nvPr/>
        </p:nvSpPr>
        <p:spPr>
          <a:xfrm>
            <a:off x="1016000" y="2984500"/>
            <a:ext cx="6096000" cy="1270000"/>
          </a:xfrm>
          <a:prstGeom prst="roundRect">
            <a:avLst>
              <a:gd name="adj" fmla="val 6000"/>
            </a:avLst>
          </a:prstGeom>
        </p:spPr>
        <p:style>
          <a:lnRef idx="2">
            <a:schemeClr val="accent1"/>
          </a:lnRef>
          <a:fillRef idx="1">
            <a:schemeClr val="lt1"/>
          </a:fillRef>
          <a:effectRef idx="0">
            <a:schemeClr val="accent1"/>
          </a:effectRef>
          <a:fontRef idx="minor">
            <a:schemeClr val="dk1"/>
          </a:fontRef>
        </p:style>
        <p:txBody>
          <a:bodyPr vert="horz" wrap="square" lIns="63500" tIns="63500" rIns="63500" bIns="63500" rtlCol="0" anchor="ctr"/>
          <a:lstStyle/>
          <a:p>
            <a:pPr algn="ctr"/>
            <a:endParaRPr dirty="0"/>
          </a:p>
        </p:txBody>
      </p:sp>
      <p:sp>
        <p:nvSpPr>
          <p:cNvPr id="10" name="AutoShape 10"/>
          <p:cNvSpPr txBox="1"/>
          <p:nvPr/>
        </p:nvSpPr>
        <p:spPr>
          <a:xfrm>
            <a:off x="1206500" y="3111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004D86"/>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业务层</a:t>
            </a:r>
            <a:endParaRPr lang="en-US" sz="1100" dirty="0">
              <a:solidFill>
                <a:srgbClr val="004D86"/>
              </a:solidFill>
            </a:endParaRPr>
          </a:p>
        </p:txBody>
      </p:sp>
      <p:sp>
        <p:nvSpPr>
          <p:cNvPr id="11" name="AutoShape 11"/>
          <p:cNvSpPr txBox="1"/>
          <p:nvPr/>
        </p:nvSpPr>
        <p:spPr>
          <a:xfrm>
            <a:off x="1206500" y="3429000"/>
            <a:ext cx="571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3 + Flask 3.1 · Blueprint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模块化</a:t>
            </a:r>
            <a:endParaRPr lang="en-US" sz="1100" dirty="0">
              <a:solidFill>
                <a:schemeClr val="tx1">
                  <a:lumMod val="85000"/>
                  <a:lumOff val="15000"/>
                </a:schemeClr>
              </a:solidFill>
            </a:endParaRPr>
          </a:p>
          <a:p>
            <a:pPr marL="0" indent="0" algn="l">
              <a:lnSpc>
                <a:spcPct val="125000"/>
              </a:lnSpc>
            </a:pP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域名</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AI /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工具箱</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扫描器</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用户管理</a:t>
            </a:r>
            <a:endPar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1016000" y="4445000"/>
            <a:ext cx="6096000" cy="889000"/>
          </a:xfrm>
          <a:prstGeom prst="roundRect">
            <a:avLst>
              <a:gd name="adj" fmla="val 8571"/>
            </a:avLst>
          </a:prstGeom>
        </p:spPr>
        <p:style>
          <a:lnRef idx="2">
            <a:schemeClr val="accent5"/>
          </a:lnRef>
          <a:fillRef idx="1">
            <a:schemeClr val="lt1"/>
          </a:fillRef>
          <a:effectRef idx="0">
            <a:schemeClr val="accent5"/>
          </a:effectRef>
          <a:fontRef idx="minor">
            <a:schemeClr val="dk1"/>
          </a:fontRef>
        </p:style>
        <p:txBody>
          <a:bodyPr vert="horz" wrap="square" lIns="63500" tIns="63500" rIns="63500" bIns="63500" rtlCol="0" anchor="ctr"/>
          <a:lstStyle/>
          <a:p>
            <a:pPr algn="ctr">
              <a:defRPr/>
            </a:pPr>
            <a:endParaRPr dirty="0"/>
          </a:p>
        </p:txBody>
      </p:sp>
      <p:sp>
        <p:nvSpPr>
          <p:cNvPr id="13" name="AutoShape 13"/>
          <p:cNvSpPr txBox="1"/>
          <p:nvPr/>
        </p:nvSpPr>
        <p:spPr>
          <a:xfrm>
            <a:off x="1206500" y="4572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0070C0"/>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数据层</a:t>
            </a:r>
            <a:endParaRPr lang="en-US" sz="1100" dirty="0">
              <a:solidFill>
                <a:srgbClr val="0070C0"/>
              </a:solidFill>
            </a:endParaRPr>
          </a:p>
        </p:txBody>
      </p:sp>
      <p:sp>
        <p:nvSpPr>
          <p:cNvPr id="14" name="AutoShape 14"/>
          <p:cNvSpPr txBox="1"/>
          <p:nvPr/>
        </p:nvSpPr>
        <p:spPr>
          <a:xfrm>
            <a:off x="1206500" y="4889500"/>
            <a:ext cx="571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dirty="0" err="1">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SQLite（零外部数据库依赖</a:t>
            </a:r>
            <a:r>
              <a:rPr lang="en-US" sz="1200" dirty="0">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 python-docx / </a:t>
            </a:r>
            <a:r>
              <a:rPr lang="en-US" sz="1200" dirty="0" err="1">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reportlab</a:t>
            </a:r>
            <a:r>
              <a:rPr lang="en-US" sz="1200" dirty="0">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 </a:t>
            </a:r>
            <a:r>
              <a:rPr lang="en-US" sz="1200" dirty="0" err="1">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文档引擎</a:t>
            </a:r>
            <a:endParaRPr lang="en-US" sz="1200" dirty="0">
              <a:solidFill>
                <a:schemeClr val="tx1">
                  <a:lumMod val="85000"/>
                  <a:lumOff val="15000"/>
                </a:schemeClr>
              </a:solidFill>
              <a:latin typeface="Noto Sans SC" panose="020B0200000000000000" charset="-122"/>
              <a:ea typeface="Noto Sans SC" panose="020B0200000000000000" charset="-122"/>
            </a:endParaRPr>
          </a:p>
        </p:txBody>
      </p:sp>
      <p:sp>
        <p:nvSpPr>
          <p:cNvPr id="15" name="AutoShape 15"/>
          <p:cNvSpPr txBox="1"/>
          <p:nvPr/>
        </p:nvSpPr>
        <p:spPr>
          <a:xfrm>
            <a:off x="7620000" y="1905000"/>
            <a:ext cx="355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AI 子系统四大组件</a:t>
            </a:r>
            <a:endParaRPr lang="en-US" sz="1100"/>
          </a:p>
        </p:txBody>
      </p:sp>
      <p:sp>
        <p:nvSpPr>
          <p:cNvPr id="16" name="AutoShape 16"/>
          <p:cNvSpPr/>
          <p:nvPr/>
        </p:nvSpPr>
        <p:spPr>
          <a:xfrm>
            <a:off x="7620000" y="2349500"/>
            <a:ext cx="3556000" cy="635000"/>
          </a:xfrm>
          <a:prstGeom prst="roundRect">
            <a:avLst>
              <a:gd name="adj" fmla="val 12000"/>
            </a:avLst>
          </a:prstGeom>
          <a:solidFill>
            <a:srgbClr val="0D13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txBox="1"/>
          <p:nvPr/>
        </p:nvSpPr>
        <p:spPr>
          <a:xfrm>
            <a:off x="7810500" y="24384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① LLM 客户端</a:t>
            </a:r>
            <a:endParaRPr lang="en-US" sz="1100"/>
          </a:p>
        </p:txBody>
      </p:sp>
      <p:sp>
        <p:nvSpPr>
          <p:cNvPr id="18" name="AutoShape 18"/>
          <p:cNvSpPr txBox="1"/>
          <p:nvPr/>
        </p:nvSpPr>
        <p:spPr>
          <a:xfrm>
            <a:off x="7810500" y="2692400"/>
            <a:ext cx="3175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B4C8FF"/>
                </a:solidFill>
                <a:latin typeface="Noto Sans SC" panose="020B0200000000000000" charset="-122"/>
                <a:ea typeface="Noto Sans SC" panose="020B0200000000000000" charset="-122"/>
                <a:cs typeface="Noto Sans SC" panose="020B0200000000000000" charset="-122"/>
                <a:sym typeface="Noto Sans SC" panose="020B0200000000000000" charset="-122"/>
              </a:rPr>
              <a:t>兼容 OpenAI 协议 · 支持流式</a:t>
            </a:r>
            <a:endParaRPr lang="en-US" sz="1100"/>
          </a:p>
        </p:txBody>
      </p:sp>
      <p:sp>
        <p:nvSpPr>
          <p:cNvPr id="19" name="AutoShape 19"/>
          <p:cNvSpPr/>
          <p:nvPr/>
        </p:nvSpPr>
        <p:spPr>
          <a:xfrm>
            <a:off x="7620000" y="3111500"/>
            <a:ext cx="3556000" cy="635000"/>
          </a:xfrm>
          <a:prstGeom prst="roundRect">
            <a:avLst>
              <a:gd name="adj" fmla="val 12000"/>
            </a:avLst>
          </a:prstGeom>
          <a:solidFill>
            <a:srgbClr val="0D13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txBox="1"/>
          <p:nvPr/>
        </p:nvSpPr>
        <p:spPr>
          <a:xfrm>
            <a:off x="7810500" y="32004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② 本地 RAG 检索器</a:t>
            </a:r>
            <a:endParaRPr lang="en-US" sz="1100"/>
          </a:p>
        </p:txBody>
      </p:sp>
      <p:sp>
        <p:nvSpPr>
          <p:cNvPr id="21" name="AutoShape 21"/>
          <p:cNvSpPr txBox="1"/>
          <p:nvPr/>
        </p:nvSpPr>
        <p:spPr>
          <a:xfrm>
            <a:off x="7810500" y="3454400"/>
            <a:ext cx="3175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dirty="0">
                <a:solidFill>
                  <a:srgbClr val="B4C8FF"/>
                </a:solidFill>
                <a:latin typeface="Noto Sans SC" panose="020B0200000000000000" charset="-122"/>
                <a:ea typeface="Noto Sans SC" panose="020B0200000000000000" charset="-122"/>
                <a:cs typeface="Noto Sans SC" panose="020B0200000000000000" charset="-122"/>
                <a:sym typeface="Noto Sans SC" panose="020B0200000000000000" charset="-122"/>
              </a:rPr>
              <a:t>bigram </a:t>
            </a:r>
            <a:r>
              <a:rPr lang="en-US" sz="1000" b="0" i="0" u="none" strike="noStrike" dirty="0" err="1">
                <a:solidFill>
                  <a:srgbClr val="B4C8FF"/>
                </a:solidFill>
                <a:latin typeface="Noto Sans SC" panose="020B0200000000000000" charset="-122"/>
                <a:ea typeface="Noto Sans SC" panose="020B0200000000000000" charset="-122"/>
                <a:cs typeface="Noto Sans SC" panose="020B0200000000000000" charset="-122"/>
                <a:sym typeface="Noto Sans SC" panose="020B0200000000000000" charset="-122"/>
              </a:rPr>
              <a:t>切分</a:t>
            </a:r>
            <a:r>
              <a:rPr lang="en-US" sz="1000" b="0" i="0" u="none" strike="noStrike" dirty="0">
                <a:solidFill>
                  <a:srgbClr val="B4C8FF"/>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000" b="0" i="0" u="none" strike="noStrike" dirty="0" err="1">
                <a:solidFill>
                  <a:srgbClr val="B4C8FF"/>
                </a:solidFill>
                <a:latin typeface="Noto Sans SC" panose="020B0200000000000000" charset="-122"/>
                <a:ea typeface="Noto Sans SC" panose="020B0200000000000000" charset="-122"/>
                <a:cs typeface="Noto Sans SC" panose="020B0200000000000000" charset="-122"/>
                <a:sym typeface="Noto Sans SC" panose="020B0200000000000000" charset="-122"/>
              </a:rPr>
              <a:t>无向量库</a:t>
            </a:r>
            <a:r>
              <a:rPr lang="en-US" sz="1000" b="0" i="0" u="none" strike="noStrike" dirty="0">
                <a:solidFill>
                  <a:srgbClr val="B4C8FF"/>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000" b="0" i="0" u="none" strike="noStrike" dirty="0" err="1">
                <a:solidFill>
                  <a:srgbClr val="B4C8FF"/>
                </a:solidFill>
                <a:latin typeface="Noto Sans SC" panose="020B0200000000000000" charset="-122"/>
                <a:ea typeface="Noto Sans SC" panose="020B0200000000000000" charset="-122"/>
                <a:cs typeface="Noto Sans SC" panose="020B0200000000000000" charset="-122"/>
                <a:sym typeface="Noto Sans SC" panose="020B0200000000000000" charset="-122"/>
              </a:rPr>
              <a:t>毫秒级召回</a:t>
            </a:r>
            <a:endParaRPr lang="en-US" sz="1100" dirty="0"/>
          </a:p>
        </p:txBody>
      </p:sp>
      <p:sp>
        <p:nvSpPr>
          <p:cNvPr id="22" name="AutoShape 22"/>
          <p:cNvSpPr/>
          <p:nvPr/>
        </p:nvSpPr>
        <p:spPr>
          <a:xfrm>
            <a:off x="7620000" y="3873500"/>
            <a:ext cx="3556000" cy="635000"/>
          </a:xfrm>
          <a:prstGeom prst="roundRect">
            <a:avLst>
              <a:gd name="adj" fmla="val 12000"/>
            </a:avLst>
          </a:prstGeom>
          <a:solidFill>
            <a:srgbClr val="0D13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txBox="1"/>
          <p:nvPr/>
        </p:nvSpPr>
        <p:spPr>
          <a:xfrm>
            <a:off x="7810500" y="39624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③ CVSS v3.1 评分器</a:t>
            </a:r>
            <a:endParaRPr lang="en-US" sz="1100"/>
          </a:p>
        </p:txBody>
      </p:sp>
      <p:sp>
        <p:nvSpPr>
          <p:cNvPr id="24" name="AutoShape 24"/>
          <p:cNvSpPr txBox="1"/>
          <p:nvPr/>
        </p:nvSpPr>
        <p:spPr>
          <a:xfrm>
            <a:off x="7810500" y="4216400"/>
            <a:ext cx="3175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B4C8FF"/>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严格遵循 FIRST.org 规范 · 精确取整</a:t>
            </a:r>
            <a:endParaRPr lang="en-US" sz="1100"/>
          </a:p>
        </p:txBody>
      </p:sp>
      <p:sp>
        <p:nvSpPr>
          <p:cNvPr id="25" name="AutoShape 25"/>
          <p:cNvSpPr/>
          <p:nvPr/>
        </p:nvSpPr>
        <p:spPr>
          <a:xfrm>
            <a:off x="7620000" y="4635500"/>
            <a:ext cx="3556000" cy="635000"/>
          </a:xfrm>
          <a:prstGeom prst="roundRect">
            <a:avLst>
              <a:gd name="adj" fmla="val 12000"/>
            </a:avLst>
          </a:prstGeom>
          <a:solidFill>
            <a:srgbClr val="0D132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txBox="1"/>
          <p:nvPr/>
        </p:nvSpPr>
        <p:spPr>
          <a:xfrm>
            <a:off x="7810500" y="47244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④ 报告质量规则引擎</a:t>
            </a:r>
            <a:endParaRPr lang="en-US" sz="1100"/>
          </a:p>
        </p:txBody>
      </p:sp>
      <p:sp>
        <p:nvSpPr>
          <p:cNvPr id="27" name="AutoShape 27"/>
          <p:cNvSpPr txBox="1"/>
          <p:nvPr/>
        </p:nvSpPr>
        <p:spPr>
          <a:xfrm>
            <a:off x="7810500" y="4978400"/>
            <a:ext cx="3175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B4C8FF"/>
                </a:solidFill>
                <a:latin typeface="Noto Sans SC" panose="020B0200000000000000" charset="-122"/>
                <a:ea typeface="Noto Sans SC" panose="020B0200000000000000" charset="-122"/>
                <a:cs typeface="Noto Sans SC" panose="020B0200000000000000" charset="-122"/>
                <a:sym typeface="Noto Sans SC" panose="020B0200000000000000" charset="-122"/>
              </a:rPr>
              <a:t>9 维可解释规则 · 离线可用</a:t>
            </a:r>
            <a:endParaRPr lang="en-US" sz="1100"/>
          </a:p>
        </p:txBody>
      </p:sp>
      <p:cxnSp>
        <p:nvCxnSpPr>
          <p:cNvPr id="28" name="Connector 28"/>
          <p:cNvCxnSpPr/>
          <p:nvPr/>
        </p:nvCxnSpPr>
        <p:spPr>
          <a:xfrm rot="-4297">
            <a:off x="1016004" y="57086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29" name="AutoShape 29"/>
          <p:cNvSpPr txBox="1"/>
          <p:nvPr/>
        </p:nvSpPr>
        <p:spPr>
          <a:xfrm>
            <a:off x="1016000" y="59055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技术栈：Python 3.10 / Flask 3.1 / SQLite / python-docx / docxtpl / reportlab · 普通办公 PC 即可运行</a:t>
            </a:r>
            <a:endParaRPr lang="en-US" sz="1100"/>
          </a:p>
        </p:txBody>
      </p:sp>
      <p:sp>
        <p:nvSpPr>
          <p:cNvPr id="30" name="AutoShape 30"/>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核心功能模块</a:t>
            </a:r>
            <a:endParaRPr lang="en-US" sz="1100"/>
          </a:p>
        </p:txBody>
      </p:sp>
      <p:sp>
        <p:nvSpPr>
          <p:cNvPr id="4" name="AutoShape 4"/>
          <p:cNvSpPr txBox="1"/>
          <p:nvPr/>
        </p:nvSpPr>
        <p:spPr>
          <a:xfrm>
            <a:off x="1016000" y="889000"/>
            <a:ext cx="9386067" cy="571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28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en-US" altLang="zh-CN" sz="2800" b="1"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漏洞扫描模块</a:t>
            </a:r>
            <a:r>
              <a:rPr lang="zh-CN" altLang="en-US" sz="28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：全流程跟踪，扫描任务详细记录</a:t>
            </a:r>
            <a:endParaRPr lang="en-US" altLang="zh-CN" sz="1600" dirty="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19" name="AutoShape 19"/>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
        <p:nvSpPr>
          <p:cNvPr id="24" name="AutoShape 17"/>
          <p:cNvSpPr txBox="1"/>
          <p:nvPr/>
        </p:nvSpPr>
        <p:spPr>
          <a:xfrm>
            <a:off x="7715208" y="2135900"/>
            <a:ext cx="381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dirty="0"/>
          </a:p>
        </p:txBody>
      </p:sp>
      <p:sp>
        <p:nvSpPr>
          <p:cNvPr id="30" name="AutoShape 20"/>
          <p:cNvSpPr txBox="1"/>
          <p:nvPr/>
        </p:nvSpPr>
        <p:spPr>
          <a:xfrm>
            <a:off x="2648419" y="5661102"/>
            <a:ext cx="3052747" cy="307898"/>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en-US" sz="10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图：</a:t>
            </a:r>
            <a:r>
              <a:rPr lang="en-US" altLang="zh-CN" sz="10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000" dirty="0">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AI</a:t>
            </a:r>
            <a:r>
              <a:rPr lang="zh-CN" altLang="en-US" sz="1000" dirty="0">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漏洞扫码模块</a:t>
            </a:r>
            <a:endParaRPr lang="en-US" sz="1100" dirty="0">
              <a:solidFill>
                <a:schemeClr val="tx1">
                  <a:lumMod val="85000"/>
                  <a:lumOff val="15000"/>
                </a:schemeClr>
              </a:solidFill>
            </a:endParaRPr>
          </a:p>
        </p:txBody>
      </p:sp>
      <p:pic>
        <p:nvPicPr>
          <p:cNvPr id="6" name="图片 5"/>
          <p:cNvPicPr/>
          <p:nvPr/>
        </p:nvPicPr>
        <p:blipFill>
          <a:blip r:embed="rId2" cstate="print">
            <a:extLst>
              <a:ext uri="{28A0092B-C50C-407E-A947-70E740481C1C}">
                <a14:useLocalDpi xmlns:a14="http://schemas.microsoft.com/office/drawing/2010/main" val="0"/>
              </a:ext>
            </a:extLst>
          </a:blip>
          <a:stretch>
            <a:fillRect/>
          </a:stretch>
        </p:blipFill>
        <p:spPr>
          <a:xfrm>
            <a:off x="1089509" y="1862137"/>
            <a:ext cx="6206082" cy="3608465"/>
          </a:xfrm>
          <a:prstGeom prst="rect">
            <a:avLst/>
          </a:prstGeom>
        </p:spPr>
      </p:pic>
      <p:sp>
        <p:nvSpPr>
          <p:cNvPr id="12" name="文本框 11"/>
          <p:cNvSpPr txBox="1"/>
          <p:nvPr/>
        </p:nvSpPr>
        <p:spPr>
          <a:xfrm>
            <a:off x="7715208" y="1862137"/>
            <a:ext cx="3810000" cy="1033168"/>
          </a:xfrm>
          <a:prstGeom prst="rect">
            <a:avLst/>
          </a:prstGeom>
          <a:noFill/>
        </p:spPr>
        <p:txBody>
          <a:bodyPr wrap="square">
            <a:spAutoFit/>
          </a:bodyPr>
          <a:lstStyle/>
          <a:p>
            <a:pPr>
              <a:lnSpc>
                <a:spcPct val="125000"/>
              </a:lnSpc>
              <a:buFont typeface="Arial" panose="020B0604020202020204"/>
              <a:buNone/>
            </a:pPr>
            <a:r>
              <a:rPr lang="zh-CN" altLang="zh-CN" b="1" dirty="0">
                <a:solidFill>
                  <a:schemeClr val="tx1">
                    <a:lumMod val="85000"/>
                    <a:lumOff val="15000"/>
                  </a:schemeClr>
                </a:solidFill>
                <a:latin typeface="Noto Sans SC" panose="020B0200000000000000" charset="-122"/>
                <a:ea typeface="Noto Sans SC" panose="020B0200000000000000" charset="-122"/>
              </a:rPr>
              <a:t>内置漏洞扫描引擎</a:t>
            </a:r>
            <a:endParaRPr lang="en-US" altLang="zh-CN" b="1" dirty="0">
              <a:solidFill>
                <a:schemeClr val="tx1">
                  <a:lumMod val="85000"/>
                  <a:lumOff val="15000"/>
                </a:schemeClr>
              </a:solidFill>
              <a:latin typeface="Noto Sans SC" panose="020B0200000000000000" charset="-122"/>
              <a:ea typeface="Noto Sans SC" panose="020B0200000000000000" charset="-122"/>
            </a:endParaRPr>
          </a:p>
          <a:p>
            <a:pPr>
              <a:lnSpc>
                <a:spcPct val="125000"/>
              </a:lnSpc>
              <a:buFont typeface="Arial" panose="020B0604020202020204"/>
              <a:buNone/>
            </a:pPr>
            <a:r>
              <a:rPr lang="en-US" altLang="zh-CN" sz="1200" dirty="0">
                <a:solidFill>
                  <a:schemeClr val="tx1">
                    <a:lumMod val="85000"/>
                    <a:lumOff val="15000"/>
                  </a:schemeClr>
                </a:solidFill>
                <a:latin typeface="Noto Sans SC" panose="020B0200000000000000" charset="-122"/>
                <a:ea typeface="Noto Sans SC" panose="020B0200000000000000" charset="-122"/>
              </a:rPr>
              <a:t>         </a:t>
            </a:r>
            <a:r>
              <a:rPr lang="zh-CN" altLang="zh-CN" sz="1200" dirty="0">
                <a:solidFill>
                  <a:schemeClr val="tx1">
                    <a:lumMod val="85000"/>
                    <a:lumOff val="15000"/>
                  </a:schemeClr>
                </a:solidFill>
                <a:latin typeface="Noto Sans SC" panose="020B0200000000000000" charset="-122"/>
                <a:ea typeface="Noto Sans SC" panose="020B0200000000000000" charset="-122"/>
              </a:rPr>
              <a:t>用户输入目标地址后发起任务，系统通过多子</a:t>
            </a:r>
            <a:r>
              <a:rPr lang="en-US" altLang="zh-CN" sz="1200" dirty="0">
                <a:solidFill>
                  <a:schemeClr val="tx1">
                    <a:lumMod val="85000"/>
                    <a:lumOff val="15000"/>
                  </a:schemeClr>
                </a:solidFill>
                <a:latin typeface="Noto Sans SC" panose="020B0200000000000000" charset="-122"/>
                <a:ea typeface="Noto Sans SC" panose="020B0200000000000000" charset="-122"/>
              </a:rPr>
              <a:t>Agent</a:t>
            </a:r>
            <a:r>
              <a:rPr lang="zh-CN" altLang="zh-CN" sz="1200" dirty="0">
                <a:solidFill>
                  <a:schemeClr val="tx1">
                    <a:lumMod val="85000"/>
                    <a:lumOff val="15000"/>
                  </a:schemeClr>
                </a:solidFill>
                <a:latin typeface="Noto Sans SC" panose="020B0200000000000000" charset="-122"/>
                <a:ea typeface="Noto Sans SC" panose="020B0200000000000000" charset="-122"/>
              </a:rPr>
              <a:t>编排机制依次执行资产探测、漏洞验证、</a:t>
            </a:r>
            <a:r>
              <a:rPr lang="en-US" altLang="zh-CN" sz="1200" dirty="0">
                <a:solidFill>
                  <a:schemeClr val="tx1">
                    <a:lumMod val="85000"/>
                    <a:lumOff val="15000"/>
                  </a:schemeClr>
                </a:solidFill>
                <a:latin typeface="Noto Sans SC" panose="020B0200000000000000" charset="-122"/>
                <a:ea typeface="Noto Sans SC" panose="020B0200000000000000" charset="-122"/>
              </a:rPr>
              <a:t>AI</a:t>
            </a:r>
            <a:r>
              <a:rPr lang="zh-CN" altLang="zh-CN" sz="1200" dirty="0">
                <a:solidFill>
                  <a:schemeClr val="tx1">
                    <a:lumMod val="85000"/>
                    <a:lumOff val="15000"/>
                  </a:schemeClr>
                </a:solidFill>
                <a:latin typeface="Noto Sans SC" panose="020B0200000000000000" charset="-122"/>
                <a:ea typeface="Noto Sans SC" panose="020B0200000000000000" charset="-122"/>
              </a:rPr>
              <a:t>校核与结果汇总，页面实时跟踪扫描进度。</a:t>
            </a:r>
            <a:endParaRPr lang="zh-CN" altLang="zh-CN" sz="1200" dirty="0">
              <a:solidFill>
                <a:schemeClr val="tx1">
                  <a:lumMod val="85000"/>
                  <a:lumOff val="15000"/>
                </a:schemeClr>
              </a:solidFill>
              <a:latin typeface="Noto Sans SC" panose="020B0200000000000000" charset="-122"/>
              <a:ea typeface="Noto Sans SC" panose="020B0200000000000000" charset="-122"/>
            </a:endParaRPr>
          </a:p>
        </p:txBody>
      </p:sp>
      <p:pic>
        <p:nvPicPr>
          <p:cNvPr id="15" name="图片 14"/>
          <p:cNvPicPr>
            <a:picLocks noChangeAspect="1"/>
          </p:cNvPicPr>
          <p:nvPr/>
        </p:nvPicPr>
        <p:blipFill>
          <a:blip r:embed="rId3"/>
          <a:stretch>
            <a:fillRect/>
          </a:stretch>
        </p:blipFill>
        <p:spPr>
          <a:xfrm>
            <a:off x="7901374" y="3035300"/>
            <a:ext cx="3274634" cy="246835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核心功能模块</a:t>
            </a:r>
            <a:endParaRPr lang="en-US" sz="110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en-US" sz="28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智能引擎</a:t>
            </a:r>
            <a:r>
              <a:rPr lang="en-US" sz="2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扫描结果一键同步，生成漏洞详细报告</a:t>
            </a:r>
            <a:endParaRPr lang="en-US" sz="1100" dirty="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7" name="AutoShape 7"/>
          <p:cNvSpPr txBox="1"/>
          <p:nvPr/>
        </p:nvSpPr>
        <p:spPr>
          <a:xfrm>
            <a:off x="1048029" y="5663177"/>
            <a:ext cx="635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图：AI</a:t>
            </a:r>
            <a:r>
              <a:rPr lang="en-US" sz="10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0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智能生成页</a:t>
            </a:r>
            <a:r>
              <a:rPr lang="en-US" sz="10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0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粘贴</a:t>
            </a:r>
            <a:r>
              <a:rPr lang="en-US" sz="10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Nuclei / Burp </a:t>
            </a:r>
            <a:r>
              <a:rPr lang="en-US" sz="10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数据，AI</a:t>
            </a:r>
            <a:r>
              <a:rPr lang="en-US" sz="10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0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自动整理为规范报告</a:t>
            </a:r>
            <a:endParaRPr lang="en-US" sz="1100" dirty="0">
              <a:solidFill>
                <a:schemeClr val="tx1">
                  <a:lumMod val="85000"/>
                  <a:lumOff val="15000"/>
                </a:schemeClr>
              </a:solidFill>
            </a:endParaRPr>
          </a:p>
        </p:txBody>
      </p:sp>
      <p:sp>
        <p:nvSpPr>
          <p:cNvPr id="9" name="AutoShape 9"/>
          <p:cNvSpPr txBox="1"/>
          <p:nvPr/>
        </p:nvSpPr>
        <p:spPr>
          <a:xfrm>
            <a:off x="7874000" y="2047484"/>
            <a:ext cx="25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0" name="AutoShape 10"/>
          <p:cNvSpPr txBox="1"/>
          <p:nvPr/>
        </p:nvSpPr>
        <p:spPr>
          <a:xfrm>
            <a:off x="8128000" y="2047484"/>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一键智能生成</a:t>
            </a:r>
            <a:endParaRPr lang="en-US" sz="1100" dirty="0"/>
          </a:p>
          <a:p>
            <a:pPr marL="0" indent="0" algn="l">
              <a:lnSpc>
                <a:spcPct val="125000"/>
              </a:lnSpc>
            </a:pPr>
            <a:r>
              <a:rPr lang="en-US"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分析预览</a:t>
            </a:r>
            <a:r>
              <a:rPr lang="en-US"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润色</a:t>
            </a:r>
            <a:r>
              <a:rPr lang="en-US"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摘要</a:t>
            </a:r>
            <a:r>
              <a:rPr lang="en-US"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资产分类</a:t>
            </a:r>
            <a:endParaRPr lang="en-US"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txBox="1"/>
          <p:nvPr/>
        </p:nvSpPr>
        <p:spPr>
          <a:xfrm>
            <a:off x="7874000" y="3007682"/>
            <a:ext cx="25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2" name="AutoShape 12"/>
          <p:cNvSpPr txBox="1"/>
          <p:nvPr/>
        </p:nvSpPr>
        <p:spPr>
          <a:xfrm>
            <a:off x="8128000" y="2983262"/>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a:t>
            </a:r>
            <a:r>
              <a:rPr lang="en-US" sz="16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 RAG </a:t>
            </a:r>
            <a:r>
              <a:rPr lang="en-US" sz="16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增强</a:t>
            </a:r>
            <a:endParaRPr lang="en-US" dirty="0"/>
          </a:p>
          <a:p>
            <a:pPr marL="0" indent="0" algn="l">
              <a:lnSpc>
                <a:spcPct val="125000"/>
              </a:lnSpc>
            </a:pPr>
            <a:r>
              <a:rPr lang="en-US"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回传命中知识条目，约束输出口径</a:t>
            </a:r>
            <a:endParaRPr lang="en-US"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txBox="1"/>
          <p:nvPr/>
        </p:nvSpPr>
        <p:spPr>
          <a:xfrm>
            <a:off x="7874000" y="3921220"/>
            <a:ext cx="254000" cy="2758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6" name="AutoShape 16"/>
          <p:cNvSpPr txBox="1"/>
          <p:nvPr/>
        </p:nvSpPr>
        <p:spPr>
          <a:xfrm>
            <a:off x="8128000" y="38968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修复代码生成</a:t>
            </a:r>
            <a:endParaRPr lang="en-US" dirty="0"/>
          </a:p>
          <a:p>
            <a:pPr marL="0" indent="0" algn="l">
              <a:lnSpc>
                <a:spcPct val="125000"/>
              </a:lnSpc>
            </a:pPr>
            <a:r>
              <a:rPr lang="en-US"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根因分析</a:t>
            </a:r>
            <a:r>
              <a:rPr lang="en-US"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分步修复</a:t>
            </a:r>
            <a:r>
              <a:rPr lang="en-US"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多语言示例</a:t>
            </a:r>
            <a:endParaRPr lang="en-US"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pic>
        <p:nvPicPr>
          <p:cNvPr id="8" name="图片 7"/>
          <p:cNvPicPr>
            <a:picLocks noChangeAspect="1"/>
          </p:cNvPicPr>
          <p:nvPr/>
        </p:nvPicPr>
        <p:blipFill>
          <a:blip r:embed="rId2"/>
          <a:stretch>
            <a:fillRect/>
          </a:stretch>
        </p:blipFill>
        <p:spPr>
          <a:xfrm>
            <a:off x="936519" y="1803041"/>
            <a:ext cx="6640788" cy="3669635"/>
          </a:xfrm>
          <a:prstGeom prst="rect">
            <a:avLst/>
          </a:prstGeom>
        </p:spPr>
      </p:pic>
      <p:sp>
        <p:nvSpPr>
          <p:cNvPr id="14" name="AutoShape 15"/>
          <p:cNvSpPr txBox="1"/>
          <p:nvPr/>
        </p:nvSpPr>
        <p:spPr>
          <a:xfrm>
            <a:off x="7874000" y="4830320"/>
            <a:ext cx="254000" cy="2758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1" name="AutoShape 16"/>
          <p:cNvSpPr txBox="1"/>
          <p:nvPr/>
        </p:nvSpPr>
        <p:spPr>
          <a:xfrm>
            <a:off x="8128000" y="48059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dirty="0">
                <a:solidFill>
                  <a:srgbClr val="0D1326"/>
                </a:solidFill>
                <a:latin typeface="Noto Sans SC" panose="020B0200000000000000" charset="-122"/>
                <a:ea typeface="Noto Sans SC" panose="020B0200000000000000" charset="-122"/>
                <a:sym typeface="Noto Sans SC" panose="020B0200000000000000" charset="-122"/>
              </a:rPr>
              <a:t>多模板导出与逆向使用</a:t>
            </a:r>
            <a:endParaRPr lang="en-US" dirty="0"/>
          </a:p>
          <a:p>
            <a:pPr marL="0" indent="0" algn="l">
              <a:lnSpc>
                <a:spcPct val="125000"/>
              </a:lnSpc>
            </a:pPr>
            <a:r>
              <a:rPr lang="zh-CN" altLang="en-US"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支持各类模板形式，新模板可逆向复用</a:t>
            </a:r>
            <a:endParaRPr lang="en-US"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核心功能模块</a:t>
            </a:r>
            <a:endParaRPr lang="en-US" sz="110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8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各</a:t>
            </a:r>
            <a:r>
              <a:rPr lang="en-US" sz="2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a:t>
            </a:r>
            <a:r>
              <a:rPr lang="zh-CN" altLang="en-US" sz="2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a:t>
            </a:r>
            <a:r>
              <a:rPr lang="en-US" sz="28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功能模块，覆盖从资产到报告的完整链路</a:t>
            </a:r>
            <a:endParaRPr lang="en-US" sz="1100" dirty="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6" name="AutoShape 6"/>
          <p:cNvSpPr txBox="1"/>
          <p:nvPr/>
        </p:nvSpPr>
        <p:spPr>
          <a:xfrm>
            <a:off x="1016000" y="2146429"/>
            <a:ext cx="38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txBox="1"/>
          <p:nvPr/>
        </p:nvSpPr>
        <p:spPr>
          <a:xfrm>
            <a:off x="1460500" y="2171829"/>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资产管理模块</a:t>
            </a:r>
            <a:endParaRPr lang="en-US" sz="1100" dirty="0"/>
          </a:p>
        </p:txBody>
      </p:sp>
      <p:sp>
        <p:nvSpPr>
          <p:cNvPr id="8" name="AutoShape 8"/>
          <p:cNvSpPr txBox="1"/>
          <p:nvPr/>
        </p:nvSpPr>
        <p:spPr>
          <a:xfrm>
            <a:off x="1460500" y="2502029"/>
            <a:ext cx="3890888"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dirty="0" err="1">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单位</a:t>
            </a:r>
            <a:r>
              <a:rPr lang="en-US" sz="1100" b="0" i="0" u="none" strike="noStrike"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dirty="0" err="1">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域名双资产台账，文本批量、Excel、ICP多方式导入</a:t>
            </a:r>
            <a:r>
              <a:rPr lang="en-US" sz="1100" b="0" i="0" u="none" strike="noStrike"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solidFill>
                <a:schemeClr val="tx1">
                  <a:lumMod val="75000"/>
                  <a:lumOff val="25000"/>
                </a:schemeClr>
              </a:solidFill>
            </a:endParaRPr>
          </a:p>
        </p:txBody>
      </p:sp>
      <p:sp>
        <p:nvSpPr>
          <p:cNvPr id="9" name="AutoShape 9"/>
          <p:cNvSpPr txBox="1"/>
          <p:nvPr/>
        </p:nvSpPr>
        <p:spPr>
          <a:xfrm>
            <a:off x="1016000" y="3289818"/>
            <a:ext cx="38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0" name="AutoShape 10"/>
          <p:cNvSpPr txBox="1"/>
          <p:nvPr/>
        </p:nvSpPr>
        <p:spPr>
          <a:xfrm>
            <a:off x="1460500" y="3315218"/>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漏洞知识库</a:t>
            </a:r>
            <a:endParaRPr lang="en-US" sz="1100" dirty="0"/>
          </a:p>
        </p:txBody>
      </p:sp>
      <p:sp>
        <p:nvSpPr>
          <p:cNvPr id="11" name="AutoShape 11"/>
          <p:cNvSpPr txBox="1"/>
          <p:nvPr/>
        </p:nvSpPr>
        <p:spPr>
          <a:xfrm>
            <a:off x="1460500" y="3645418"/>
            <a:ext cx="431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dirty="0" err="1">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维护漏洞名称</a:t>
            </a:r>
            <a:r>
              <a:rPr lang="en-US" sz="1100" dirty="0">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a:t>
            </a:r>
            <a:r>
              <a:rPr lang="en-US" sz="1100" dirty="0" err="1">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等级</a:t>
            </a:r>
            <a:r>
              <a:rPr lang="en-US" sz="1100" dirty="0">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a:t>
            </a:r>
            <a:r>
              <a:rPr lang="en-US" sz="1100" dirty="0" err="1">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描述</a:t>
            </a:r>
            <a:r>
              <a:rPr lang="en-US" sz="1100" dirty="0">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a:t>
            </a:r>
            <a:r>
              <a:rPr lang="en-US" sz="1100" dirty="0" err="1">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危害</a:t>
            </a:r>
            <a:r>
              <a:rPr lang="en-US" sz="1100" dirty="0">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a:t>
            </a:r>
            <a:r>
              <a:rPr lang="en-US" sz="1100" dirty="0" err="1">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整改建议，RAG检索本地语料</a:t>
            </a:r>
            <a:r>
              <a:rPr lang="en-US" sz="1100" dirty="0">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a:t>
            </a:r>
            <a:endParaRPr lang="en-US" sz="1100" dirty="0">
              <a:solidFill>
                <a:schemeClr val="tx1">
                  <a:lumMod val="75000"/>
                  <a:lumOff val="25000"/>
                </a:schemeClr>
              </a:solidFill>
              <a:latin typeface="Noto Sans SC" panose="020B0200000000000000" charset="-122"/>
              <a:ea typeface="Noto Sans SC" panose="020B0200000000000000" charset="-122"/>
            </a:endParaRPr>
          </a:p>
        </p:txBody>
      </p:sp>
      <p:sp>
        <p:nvSpPr>
          <p:cNvPr id="12" name="AutoShape 12"/>
          <p:cNvSpPr txBox="1"/>
          <p:nvPr/>
        </p:nvSpPr>
        <p:spPr>
          <a:xfrm>
            <a:off x="1016000" y="4445259"/>
            <a:ext cx="38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3" name="AutoShape 13"/>
          <p:cNvSpPr txBox="1"/>
          <p:nvPr/>
        </p:nvSpPr>
        <p:spPr>
          <a:xfrm>
            <a:off x="1460500" y="4470659"/>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报告管理模块</a:t>
            </a:r>
            <a:endParaRPr lang="en-US" sz="1100" dirty="0"/>
          </a:p>
        </p:txBody>
      </p:sp>
      <p:sp>
        <p:nvSpPr>
          <p:cNvPr id="14" name="AutoShape 14"/>
          <p:cNvSpPr txBox="1"/>
          <p:nvPr/>
        </p:nvSpPr>
        <p:spPr>
          <a:xfrm>
            <a:off x="1460500" y="4800859"/>
            <a:ext cx="431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dirty="0" err="1">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全生命周期</a:t>
            </a:r>
            <a:r>
              <a:rPr lang="zh-CN" altLang="en-US" sz="1100" dirty="0">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治</a:t>
            </a:r>
            <a:r>
              <a:rPr lang="en-US" sz="1100" dirty="0" err="1">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理，检测</a:t>
            </a:r>
            <a:r>
              <a:rPr lang="en-US" sz="1100" dirty="0">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a:t>
            </a:r>
            <a:r>
              <a:rPr lang="en-US" sz="1100" dirty="0" err="1">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归属双图多图留证，填地址自动联动资产</a:t>
            </a:r>
            <a:r>
              <a:rPr lang="en-US" sz="1100" dirty="0">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a:t>
            </a:r>
            <a:endParaRPr lang="en-US" sz="1100" dirty="0">
              <a:solidFill>
                <a:schemeClr val="tx1">
                  <a:lumMod val="75000"/>
                  <a:lumOff val="25000"/>
                </a:schemeClr>
              </a:solidFill>
              <a:latin typeface="Noto Sans SC" panose="020B0200000000000000" charset="-122"/>
              <a:ea typeface="Noto Sans SC" panose="020B0200000000000000" charset="-122"/>
            </a:endParaRPr>
          </a:p>
          <a:p>
            <a:pPr marL="0" indent="0" algn="l">
              <a:lnSpc>
                <a:spcPct val="125000"/>
              </a:lnSpc>
            </a:pP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内置四态处置状态机</a:t>
            </a:r>
            <a:r>
              <a:rPr lang="zh-CN" altLang="en-US" sz="1100" dirty="0">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rPr>
              <a:t>，各类模板协同管理。</a:t>
            </a:r>
            <a:endParaRPr lang="en-US" sz="1100" dirty="0">
              <a:solidFill>
                <a:schemeClr val="tx1">
                  <a:lumMod val="75000"/>
                  <a:lumOff val="25000"/>
                </a:schemeClr>
              </a:solidFill>
              <a:latin typeface="Noto Sans SC" panose="020B0200000000000000" charset="-122"/>
              <a:ea typeface="Noto Sans SC" panose="020B0200000000000000" charset="-122"/>
              <a:sym typeface="Noto Sans SC" panose="020B0200000000000000" charset="-122"/>
            </a:endParaRPr>
          </a:p>
        </p:txBody>
      </p:sp>
      <p:sp>
        <p:nvSpPr>
          <p:cNvPr id="21" name="AutoShape 21"/>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pic>
        <p:nvPicPr>
          <p:cNvPr id="26" name="图片 25"/>
          <p:cNvPicPr>
            <a:picLocks noChangeAspect="1"/>
          </p:cNvPicPr>
          <p:nvPr/>
        </p:nvPicPr>
        <p:blipFill>
          <a:blip r:embed="rId2"/>
          <a:stretch>
            <a:fillRect/>
          </a:stretch>
        </p:blipFill>
        <p:spPr>
          <a:xfrm>
            <a:off x="5855530" y="1798549"/>
            <a:ext cx="4318001" cy="2366792"/>
          </a:xfrm>
          <a:prstGeom prst="rect">
            <a:avLst/>
          </a:prstGeom>
        </p:spPr>
      </p:pic>
      <p:pic>
        <p:nvPicPr>
          <p:cNvPr id="23" name="图片 22"/>
          <p:cNvPicPr>
            <a:picLocks noChangeAspect="1"/>
          </p:cNvPicPr>
          <p:nvPr/>
        </p:nvPicPr>
        <p:blipFill>
          <a:blip r:embed="rId3"/>
          <a:stretch>
            <a:fillRect/>
          </a:stretch>
        </p:blipFill>
        <p:spPr>
          <a:xfrm>
            <a:off x="6310794" y="2757537"/>
            <a:ext cx="4704966" cy="2551063"/>
          </a:xfrm>
          <a:prstGeom prst="rect">
            <a:avLst/>
          </a:prstGeom>
        </p:spPr>
      </p:pic>
      <p:pic>
        <p:nvPicPr>
          <p:cNvPr id="19" name="图片 18"/>
          <p:cNvPicPr>
            <a:picLocks noChangeAspect="1"/>
          </p:cNvPicPr>
          <p:nvPr/>
        </p:nvPicPr>
        <p:blipFill>
          <a:blip r:embed="rId4"/>
          <a:stretch>
            <a:fillRect/>
          </a:stretch>
        </p:blipFill>
        <p:spPr>
          <a:xfrm>
            <a:off x="7100187" y="3608340"/>
            <a:ext cx="4503693" cy="2384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核心功能模块</a:t>
            </a:r>
            <a:endParaRPr lang="en-US" sz="110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漏洞处置全生命周期闭环，解决</a:t>
            </a:r>
            <a:r>
              <a:rPr lang="zh-CN" altLang="en-US" sz="2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28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只通报、不闭环</a:t>
            </a:r>
            <a:r>
              <a:rPr lang="zh-CN" altLang="en-US" sz="28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6" name="AutoShape 6"/>
          <p:cNvSpPr txBox="1"/>
          <p:nvPr/>
        </p:nvSpPr>
        <p:spPr>
          <a:xfrm>
            <a:off x="1016000" y="19685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四态处置状态机</a:t>
            </a:r>
            <a:endParaRPr lang="en-US" sz="1100"/>
          </a:p>
        </p:txBody>
      </p:sp>
      <p:sp>
        <p:nvSpPr>
          <p:cNvPr id="7" name="AutoShape 7"/>
          <p:cNvSpPr/>
          <p:nvPr/>
        </p:nvSpPr>
        <p:spPr>
          <a:xfrm>
            <a:off x="1016000" y="2540000"/>
            <a:ext cx="2032000" cy="889000"/>
          </a:xfrm>
          <a:prstGeom prst="roundRect">
            <a:avLst>
              <a:gd name="adj" fmla="val 11428"/>
            </a:avLst>
          </a:prstGeom>
          <a:ln>
            <a:solidFill>
              <a:srgbClr val="EE3E4F"/>
            </a:solidFill>
          </a:ln>
        </p:spPr>
        <p:style>
          <a:lnRef idx="2">
            <a:schemeClr val="accent2"/>
          </a:lnRef>
          <a:fillRef idx="1">
            <a:schemeClr val="lt1"/>
          </a:fillRef>
          <a:effectRef idx="0">
            <a:schemeClr val="accent2"/>
          </a:effectRef>
          <a:fontRef idx="minor">
            <a:schemeClr val="dk1"/>
          </a:fontRef>
        </p:style>
        <p:txBody>
          <a:bodyPr vert="horz" wrap="square" lIns="63500" tIns="63500" rIns="63500" bIns="63500" rtlCol="0" anchor="ctr"/>
          <a:lstStyle/>
          <a:p>
            <a:pPr algn="ctr">
              <a:defRPr/>
            </a:pPr>
          </a:p>
        </p:txBody>
      </p:sp>
      <p:sp>
        <p:nvSpPr>
          <p:cNvPr id="8" name="AutoShape 8"/>
          <p:cNvSpPr txBox="1"/>
          <p:nvPr/>
        </p:nvSpPr>
        <p:spPr>
          <a:xfrm>
            <a:off x="1016000" y="2730500"/>
            <a:ext cx="203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待整改</a:t>
            </a:r>
            <a:endParaRPr lang="en-US" sz="1100">
              <a:solidFill>
                <a:schemeClr val="tx1"/>
              </a:solidFill>
            </a:endParaRPr>
          </a:p>
        </p:txBody>
      </p:sp>
      <p:sp>
        <p:nvSpPr>
          <p:cNvPr id="9" name="AutoShape 9"/>
          <p:cNvSpPr txBox="1"/>
          <p:nvPr/>
        </p:nvSpPr>
        <p:spPr>
          <a:xfrm>
            <a:off x="1016000" y="3073400"/>
            <a:ext cx="2032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787882"/>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报告新建默认状态</a:t>
            </a:r>
            <a:endParaRPr lang="en-US" sz="1100"/>
          </a:p>
        </p:txBody>
      </p:sp>
      <p:cxnSp>
        <p:nvCxnSpPr>
          <p:cNvPr id="10" name="Connector 10"/>
          <p:cNvCxnSpPr/>
          <p:nvPr/>
        </p:nvCxnSpPr>
        <p:spPr>
          <a:xfrm rot="-85925">
            <a:off x="3048079" y="2978150"/>
            <a:ext cx="508000" cy="12700"/>
          </a:xfrm>
          <a:prstGeom prst="straightConnector1">
            <a:avLst/>
          </a:prstGeom>
          <a:solidFill>
            <a:srgbClr val="DEE0E3">
              <a:alpha val="100000"/>
            </a:srgbClr>
          </a:solidFill>
          <a:ln w="25400" cap="flat" cmpd="sng">
            <a:solidFill>
              <a:srgbClr val="536174">
                <a:alpha val="100000"/>
              </a:srgbClr>
            </a:solidFill>
            <a:prstDash val="solid"/>
            <a:round/>
            <a:headEnd type="none" w="lg" len="lg"/>
            <a:tailEnd type="arrow" w="lg" len="lg"/>
          </a:ln>
        </p:spPr>
      </p:cxnSp>
      <p:sp>
        <p:nvSpPr>
          <p:cNvPr id="11" name="AutoShape 11"/>
          <p:cNvSpPr/>
          <p:nvPr/>
        </p:nvSpPr>
        <p:spPr>
          <a:xfrm>
            <a:off x="3619500" y="2540000"/>
            <a:ext cx="2032000" cy="889000"/>
          </a:xfrm>
          <a:prstGeom prst="roundRect">
            <a:avLst>
              <a:gd name="adj" fmla="val 11428"/>
            </a:avLst>
          </a:prstGeom>
          <a:ln>
            <a:solidFill>
              <a:schemeClr val="accent2"/>
            </a:solidFill>
          </a:ln>
        </p:spPr>
        <p:style>
          <a:lnRef idx="2">
            <a:schemeClr val="accent2"/>
          </a:lnRef>
          <a:fillRef idx="1">
            <a:schemeClr val="lt1"/>
          </a:fillRef>
          <a:effectRef idx="0">
            <a:schemeClr val="accent2"/>
          </a:effectRef>
          <a:fontRef idx="minor">
            <a:schemeClr val="dk1"/>
          </a:fontRef>
        </p:style>
        <p:txBody>
          <a:bodyPr vert="horz" wrap="square" lIns="63500" tIns="63500" rIns="63500" bIns="63500" rtlCol="0" anchor="ctr"/>
          <a:lstStyle/>
          <a:p>
            <a:pPr algn="ctr">
              <a:defRPr/>
            </a:pPr>
          </a:p>
        </p:txBody>
      </p:sp>
      <p:sp>
        <p:nvSpPr>
          <p:cNvPr id="12" name="AutoShape 12"/>
          <p:cNvSpPr txBox="1"/>
          <p:nvPr/>
        </p:nvSpPr>
        <p:spPr>
          <a:xfrm>
            <a:off x="3619500" y="2730500"/>
            <a:ext cx="203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整改中</a:t>
            </a:r>
            <a:endParaRPr lang="en-US" sz="1100" dirty="0">
              <a:solidFill>
                <a:schemeClr val="tx1"/>
              </a:solidFill>
            </a:endParaRPr>
          </a:p>
        </p:txBody>
      </p:sp>
      <p:sp>
        <p:nvSpPr>
          <p:cNvPr id="13" name="AutoShape 13"/>
          <p:cNvSpPr txBox="1"/>
          <p:nvPr/>
        </p:nvSpPr>
        <p:spPr>
          <a:xfrm>
            <a:off x="3619500" y="3073400"/>
            <a:ext cx="2032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787882"/>
                </a:solidFill>
                <a:latin typeface="Noto Sans SC" panose="020B0200000000000000" charset="-122"/>
                <a:ea typeface="Noto Sans SC" panose="020B0200000000000000" charset="-122"/>
                <a:cs typeface="Noto Sans SC" panose="020B0200000000000000" charset="-122"/>
                <a:sym typeface="Noto Sans SC" panose="020B0200000000000000" charset="-122"/>
              </a:rPr>
              <a:t>开始整改，推进修复</a:t>
            </a:r>
            <a:endParaRPr lang="en-US" sz="1100"/>
          </a:p>
        </p:txBody>
      </p:sp>
      <p:cxnSp>
        <p:nvCxnSpPr>
          <p:cNvPr id="14" name="Connector 14"/>
          <p:cNvCxnSpPr/>
          <p:nvPr/>
        </p:nvCxnSpPr>
        <p:spPr>
          <a:xfrm rot="-85925">
            <a:off x="5651579" y="2978150"/>
            <a:ext cx="508000" cy="12700"/>
          </a:xfrm>
          <a:prstGeom prst="straightConnector1">
            <a:avLst/>
          </a:prstGeom>
          <a:solidFill>
            <a:srgbClr val="DEE0E3">
              <a:alpha val="100000"/>
            </a:srgbClr>
          </a:solidFill>
          <a:ln w="25400" cap="flat" cmpd="sng">
            <a:solidFill>
              <a:srgbClr val="536174">
                <a:alpha val="100000"/>
              </a:srgbClr>
            </a:solidFill>
            <a:prstDash val="solid"/>
            <a:round/>
            <a:headEnd type="none" w="lg" len="lg"/>
            <a:tailEnd type="arrow" w="lg" len="lg"/>
          </a:ln>
        </p:spPr>
      </p:cxnSp>
      <p:sp>
        <p:nvSpPr>
          <p:cNvPr id="15" name="AutoShape 15"/>
          <p:cNvSpPr/>
          <p:nvPr/>
        </p:nvSpPr>
        <p:spPr>
          <a:xfrm>
            <a:off x="6223000" y="2540000"/>
            <a:ext cx="2032000" cy="889000"/>
          </a:xfrm>
          <a:prstGeom prst="roundRect">
            <a:avLst>
              <a:gd name="adj" fmla="val 11428"/>
            </a:avLst>
          </a:prstGeom>
          <a:ln>
            <a:solidFill>
              <a:srgbClr val="00B0F0"/>
            </a:solidFill>
          </a:ln>
        </p:spPr>
        <p:style>
          <a:lnRef idx="2">
            <a:schemeClr val="accent2"/>
          </a:lnRef>
          <a:fillRef idx="1">
            <a:schemeClr val="lt1"/>
          </a:fillRef>
          <a:effectRef idx="0">
            <a:schemeClr val="accent2"/>
          </a:effectRef>
          <a:fontRef idx="minor">
            <a:schemeClr val="dk1"/>
          </a:fontRef>
        </p:style>
        <p:txBody>
          <a:bodyPr vert="horz" wrap="square" lIns="63500" tIns="63500" rIns="63500" bIns="63500" rtlCol="0" anchor="ctr"/>
          <a:lstStyle/>
          <a:p>
            <a:pPr algn="ctr">
              <a:defRPr/>
            </a:pPr>
          </a:p>
        </p:txBody>
      </p:sp>
      <p:sp>
        <p:nvSpPr>
          <p:cNvPr id="16" name="AutoShape 16"/>
          <p:cNvSpPr txBox="1"/>
          <p:nvPr/>
        </p:nvSpPr>
        <p:spPr>
          <a:xfrm>
            <a:off x="6223000" y="2730500"/>
            <a:ext cx="203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已修复待复测</a:t>
            </a:r>
            <a:endParaRPr lang="en-US" sz="1100" dirty="0">
              <a:solidFill>
                <a:schemeClr val="tx1"/>
              </a:solidFill>
            </a:endParaRPr>
          </a:p>
        </p:txBody>
      </p:sp>
      <p:sp>
        <p:nvSpPr>
          <p:cNvPr id="17" name="AutoShape 17"/>
          <p:cNvSpPr txBox="1"/>
          <p:nvPr/>
        </p:nvSpPr>
        <p:spPr>
          <a:xfrm>
            <a:off x="6223000" y="3073400"/>
            <a:ext cx="2032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787882"/>
                </a:solidFill>
                <a:latin typeface="Noto Sans SC" panose="020B0200000000000000" charset="-122"/>
                <a:ea typeface="Noto Sans SC" panose="020B0200000000000000" charset="-122"/>
                <a:cs typeface="Noto Sans SC" panose="020B0200000000000000" charset="-122"/>
                <a:sym typeface="Noto Sans SC" panose="020B0200000000000000" charset="-122"/>
              </a:rPr>
              <a:t>提交整改完成</a:t>
            </a:r>
            <a:endParaRPr lang="en-US" sz="1100"/>
          </a:p>
        </p:txBody>
      </p:sp>
      <p:cxnSp>
        <p:nvCxnSpPr>
          <p:cNvPr id="18" name="Connector 18"/>
          <p:cNvCxnSpPr/>
          <p:nvPr/>
        </p:nvCxnSpPr>
        <p:spPr>
          <a:xfrm rot="-85925">
            <a:off x="8255079" y="2978150"/>
            <a:ext cx="508000" cy="12700"/>
          </a:xfrm>
          <a:prstGeom prst="straightConnector1">
            <a:avLst/>
          </a:prstGeom>
          <a:solidFill>
            <a:srgbClr val="DEE0E3">
              <a:alpha val="100000"/>
            </a:srgbClr>
          </a:solidFill>
          <a:ln w="25400" cap="flat" cmpd="sng">
            <a:solidFill>
              <a:srgbClr val="536174">
                <a:alpha val="100000"/>
              </a:srgbClr>
            </a:solidFill>
            <a:prstDash val="solid"/>
            <a:round/>
            <a:headEnd type="none" w="lg" len="lg"/>
            <a:tailEnd type="arrow" w="lg" len="lg"/>
          </a:ln>
        </p:spPr>
      </p:cxnSp>
      <p:sp>
        <p:nvSpPr>
          <p:cNvPr id="19" name="AutoShape 19"/>
          <p:cNvSpPr/>
          <p:nvPr/>
        </p:nvSpPr>
        <p:spPr>
          <a:xfrm>
            <a:off x="8826500" y="2540000"/>
            <a:ext cx="2032000" cy="889000"/>
          </a:xfrm>
          <a:prstGeom prst="roundRect">
            <a:avLst>
              <a:gd name="adj" fmla="val 11428"/>
            </a:avLst>
          </a:prstGeom>
          <a:ln>
            <a:solidFill>
              <a:srgbClr val="00B050"/>
            </a:solidFill>
          </a:ln>
        </p:spPr>
        <p:style>
          <a:lnRef idx="2">
            <a:schemeClr val="accent6"/>
          </a:lnRef>
          <a:fillRef idx="1">
            <a:schemeClr val="lt1"/>
          </a:fillRef>
          <a:effectRef idx="0">
            <a:schemeClr val="accent6"/>
          </a:effectRef>
          <a:fontRef idx="minor">
            <a:schemeClr val="dk1"/>
          </a:fontRef>
        </p:style>
        <p:txBody>
          <a:bodyPr vert="horz" wrap="square" lIns="63500" tIns="63500" rIns="63500" bIns="63500" rtlCol="0" anchor="ctr"/>
          <a:lstStyle/>
          <a:p>
            <a:pPr algn="ctr">
              <a:defRPr/>
            </a:pPr>
          </a:p>
        </p:txBody>
      </p:sp>
      <p:sp>
        <p:nvSpPr>
          <p:cNvPr id="20" name="AutoShape 20"/>
          <p:cNvSpPr txBox="1"/>
          <p:nvPr/>
        </p:nvSpPr>
        <p:spPr>
          <a:xfrm>
            <a:off x="8826500" y="2730500"/>
            <a:ext cx="203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复测通过</a:t>
            </a:r>
            <a:endParaRPr lang="en-US" sz="1100" dirty="0">
              <a:solidFill>
                <a:schemeClr val="tx1"/>
              </a:solidFill>
            </a:endParaRPr>
          </a:p>
        </p:txBody>
      </p:sp>
      <p:sp>
        <p:nvSpPr>
          <p:cNvPr id="21" name="AutoShape 21"/>
          <p:cNvSpPr txBox="1"/>
          <p:nvPr/>
        </p:nvSpPr>
        <p:spPr>
          <a:xfrm>
            <a:off x="8826500" y="3073400"/>
            <a:ext cx="2032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787882"/>
                </a:solidFill>
                <a:latin typeface="Noto Sans SC" panose="020B0200000000000000" charset="-122"/>
                <a:ea typeface="Noto Sans SC" panose="020B0200000000000000" charset="-122"/>
                <a:cs typeface="Noto Sans SC" panose="020B0200000000000000" charset="-122"/>
                <a:sym typeface="Noto Sans SC" panose="020B0200000000000000" charset="-122"/>
              </a:rPr>
              <a:t>闭环完成</a:t>
            </a:r>
            <a:endParaRPr lang="en-US" sz="1100"/>
          </a:p>
        </p:txBody>
      </p:sp>
      <p:cxnSp>
        <p:nvCxnSpPr>
          <p:cNvPr id="22" name="Connector 22"/>
          <p:cNvCxnSpPr/>
          <p:nvPr/>
        </p:nvCxnSpPr>
        <p:spPr>
          <a:xfrm>
            <a:off x="4635500" y="3619500"/>
            <a:ext cx="4064000" cy="381000"/>
          </a:xfrm>
          <a:prstGeom prst="bentConnector2">
            <a:avLst/>
          </a:prstGeom>
          <a:solidFill>
            <a:srgbClr val="DEE0E3">
              <a:alpha val="100000"/>
            </a:srgbClr>
          </a:solidFill>
          <a:ln w="25400" cap="flat" cmpd="sng">
            <a:solidFill>
              <a:srgbClr val="FFC000"/>
            </a:solidFill>
            <a:prstDash val="dash"/>
            <a:round/>
            <a:headEnd type="arrow" w="lg" len="lg"/>
            <a:tailEnd type="none" w="lg" len="lg"/>
          </a:ln>
        </p:spPr>
      </p:cxnSp>
      <p:sp>
        <p:nvSpPr>
          <p:cNvPr id="23" name="AutoShape 23"/>
          <p:cNvSpPr txBox="1"/>
          <p:nvPr/>
        </p:nvSpPr>
        <p:spPr>
          <a:xfrm>
            <a:off x="5461000" y="3683000"/>
            <a:ext cx="2286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复测不通过</a:t>
            </a:r>
            <a:r>
              <a:rPr lang="en-US" sz="1000" b="0"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000" b="0"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退回整改中</a:t>
            </a:r>
            <a:endParaRPr lang="en-US" sz="1100" dirty="0">
              <a:solidFill>
                <a:schemeClr val="tx1"/>
              </a:solidFill>
            </a:endParaRPr>
          </a:p>
        </p:txBody>
      </p:sp>
      <p:cxnSp>
        <p:nvCxnSpPr>
          <p:cNvPr id="24" name="Connector 24"/>
          <p:cNvCxnSpPr/>
          <p:nvPr/>
        </p:nvCxnSpPr>
        <p:spPr>
          <a:xfrm rot="-4297">
            <a:off x="1016004" y="44386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25" name="AutoShape 25"/>
          <p:cNvSpPr txBox="1"/>
          <p:nvPr/>
        </p:nvSpPr>
        <p:spPr>
          <a:xfrm>
            <a:off x="1016000" y="4699000"/>
            <a:ext cx="2603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2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整改轨迹留痕</a:t>
            </a:r>
            <a:endParaRPr lang="en-US" sz="1100" dirty="0"/>
          </a:p>
          <a:p>
            <a:pPr marL="0" indent="0" algn="l">
              <a:lnSpc>
                <a:spcPct val="133000"/>
              </a:lnSpc>
            </a:pPr>
            <a:r>
              <a:rPr lang="en-US" sz="12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每次流转自动记录时间、动作与备注，形成完整整改轨迹</a:t>
            </a:r>
            <a:endPar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txBox="1"/>
          <p:nvPr/>
        </p:nvSpPr>
        <p:spPr>
          <a:xfrm>
            <a:off x="4445001" y="4699000"/>
            <a:ext cx="294998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2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流转合法性校验</a:t>
            </a:r>
            <a:endParaRPr lang="en-US" sz="1100" dirty="0"/>
          </a:p>
          <a:p>
            <a:pPr marL="0" indent="0" algn="l">
              <a:lnSpc>
                <a:spcPct val="133000"/>
              </a:lnSpc>
            </a:pPr>
            <a:r>
              <a:rPr lang="en-US" sz="12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后端拦截跨阶段跳变，杜绝"待整改"直接跳"复测通过</a:t>
            </a:r>
            <a:r>
              <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txBox="1"/>
          <p:nvPr/>
        </p:nvSpPr>
        <p:spPr>
          <a:xfrm>
            <a:off x="7874000" y="4538588"/>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2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仪表盘闭环统计</a:t>
            </a:r>
            <a:endParaRPr lang="en-US" sz="1100" dirty="0"/>
          </a:p>
          <a:p>
            <a:pPr marL="0" indent="0" algn="l">
              <a:lnSpc>
                <a:spcPct val="133000"/>
              </a:lnSpc>
            </a:pPr>
            <a:r>
              <a:rPr lang="en-US" sz="12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四态数量、处置推进率、复测闭环率实时刷新</a:t>
            </a:r>
            <a:endPar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核心功能模块</a:t>
            </a:r>
            <a:endParaRPr lang="en-US" sz="110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手动生成漏洞报告</a:t>
            </a:r>
            <a:r>
              <a:rPr lang="zh-CN" altLang="en-US" sz="28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：个性化与规范化需求，模板可逆向复用</a:t>
            </a:r>
            <a:endParaRPr lang="en-US" sz="1100" dirty="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28" name="AutoShape 28"/>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
        <p:nvSpPr>
          <p:cNvPr id="33" name="AutoShape 7"/>
          <p:cNvSpPr txBox="1"/>
          <p:nvPr/>
        </p:nvSpPr>
        <p:spPr>
          <a:xfrm>
            <a:off x="4863232" y="6038808"/>
            <a:ext cx="6350000" cy="254000"/>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en-US" sz="10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图：</a:t>
            </a:r>
            <a:r>
              <a:rPr lang="zh-CN" altLang="en-US" sz="1000" dirty="0">
                <a:solidFill>
                  <a:schemeClr val="tx1">
                    <a:lumMod val="85000"/>
                    <a:lumOff val="15000"/>
                  </a:schemeClr>
                </a:solidFill>
                <a:latin typeface="Noto Sans SC" panose="020B0200000000000000" charset="-122"/>
                <a:ea typeface="Noto Sans SC" panose="020B0200000000000000" charset="-122"/>
                <a:sym typeface="Noto Sans SC" panose="020B0200000000000000" charset="-122"/>
              </a:rPr>
              <a:t>手动生成漏洞报告</a:t>
            </a:r>
            <a:endParaRPr lang="en-US" sz="1000" dirty="0">
              <a:solidFill>
                <a:schemeClr val="tx1">
                  <a:lumMod val="85000"/>
                  <a:lumOff val="15000"/>
                </a:schemeClr>
              </a:solidFill>
              <a:latin typeface="Noto Sans SC" panose="020B0200000000000000" charset="-122"/>
              <a:ea typeface="Noto Sans SC" panose="020B0200000000000000" charset="-122"/>
            </a:endParaRPr>
          </a:p>
        </p:txBody>
      </p:sp>
      <p:sp>
        <p:nvSpPr>
          <p:cNvPr id="9" name="AutoShape 16"/>
          <p:cNvSpPr txBox="1"/>
          <p:nvPr/>
        </p:nvSpPr>
        <p:spPr>
          <a:xfrm>
            <a:off x="1291479" y="2195651"/>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同步漏洞知识库：</a:t>
            </a:r>
            <a:endParaRPr lang="en-US" altLang="zh-CN" sz="1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漏洞危害等一键填充，信息详情可编辑</a:t>
            </a:r>
            <a:endParaRPr lang="en-US" sz="120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9"/>
          <p:cNvSpPr txBox="1"/>
          <p:nvPr/>
        </p:nvSpPr>
        <p:spPr>
          <a:xfrm>
            <a:off x="906577" y="2209800"/>
            <a:ext cx="25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3" name="AutoShape 16"/>
          <p:cNvSpPr txBox="1"/>
          <p:nvPr/>
        </p:nvSpPr>
        <p:spPr>
          <a:xfrm>
            <a:off x="1291479" y="329565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具体报告内容可修改：</a:t>
            </a:r>
            <a:endParaRPr lang="en-US" altLang="zh-CN" sz="1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满足个性化与规范化需求，不拘泥</a:t>
            </a:r>
            <a:endParaRPr lang="en-US" sz="120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9"/>
          <p:cNvSpPr txBox="1"/>
          <p:nvPr/>
        </p:nvSpPr>
        <p:spPr>
          <a:xfrm>
            <a:off x="906577" y="3309799"/>
            <a:ext cx="25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3" name="AutoShape 16"/>
          <p:cNvSpPr txBox="1"/>
          <p:nvPr/>
        </p:nvSpPr>
        <p:spPr>
          <a:xfrm>
            <a:off x="1291479" y="4380051"/>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报告与模板协同管理：</a:t>
            </a:r>
            <a:endParaRPr lang="en-US" altLang="zh-CN" sz="18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altLang="zh-CN"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生成报告一同管理，方便查看</a:t>
            </a:r>
            <a:endParaRPr lang="en-US" sz="120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9"/>
          <p:cNvSpPr txBox="1"/>
          <p:nvPr/>
        </p:nvSpPr>
        <p:spPr>
          <a:xfrm>
            <a:off x="906577" y="4394200"/>
            <a:ext cx="25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pic>
        <p:nvPicPr>
          <p:cNvPr id="8" name="图片 7"/>
          <p:cNvPicPr>
            <a:picLocks noChangeAspect="1"/>
          </p:cNvPicPr>
          <p:nvPr/>
        </p:nvPicPr>
        <p:blipFill>
          <a:blip r:embed="rId2"/>
          <a:stretch>
            <a:fillRect/>
          </a:stretch>
        </p:blipFill>
        <p:spPr>
          <a:xfrm>
            <a:off x="4758756" y="1832868"/>
            <a:ext cx="6558952" cy="359858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核心功能模块</a:t>
            </a:r>
            <a:endParaRPr lang="en-US" sz="110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28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CVSS v3.1 </a:t>
            </a:r>
            <a:r>
              <a:rPr lang="en-US" altLang="zh-CN" sz="2800" b="1"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评分模块</a:t>
            </a:r>
            <a:r>
              <a:rPr lang="zh-CN" altLang="en-US" sz="28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800" dirty="0">
                <a:sym typeface="Noto Sans SC" panose="020B0200000000000000" charset="-122"/>
              </a:rPr>
              <a:t> </a:t>
            </a:r>
            <a:r>
              <a:rPr lang="en-US" altLang="zh-CN" sz="2800" b="1" dirty="0" err="1">
                <a:solidFill>
                  <a:srgbClr val="0D1326"/>
                </a:solidFill>
                <a:latin typeface="Noto Sans SC" panose="020B0200000000000000" charset="-122"/>
                <a:ea typeface="Noto Sans SC" panose="020B0200000000000000" charset="-122"/>
                <a:sym typeface="Noto Sans SC" panose="020B0200000000000000" charset="-122"/>
              </a:rPr>
              <a:t>一键映射报告</a:t>
            </a:r>
            <a:r>
              <a:rPr lang="zh-CN" altLang="en-US" sz="2800" b="1" dirty="0">
                <a:solidFill>
                  <a:srgbClr val="0D1326"/>
                </a:solidFill>
                <a:latin typeface="Noto Sans SC" panose="020B0200000000000000" charset="-122"/>
                <a:ea typeface="Noto Sans SC" panose="020B0200000000000000" charset="-122"/>
                <a:sym typeface="Noto Sans SC" panose="020B0200000000000000" charset="-122"/>
              </a:rPr>
              <a:t>评分</a:t>
            </a:r>
            <a:r>
              <a:rPr lang="en-US" altLang="zh-CN" sz="2800" b="1" dirty="0" err="1">
                <a:solidFill>
                  <a:srgbClr val="0D1326"/>
                </a:solidFill>
                <a:latin typeface="Noto Sans SC" panose="020B0200000000000000" charset="-122"/>
                <a:ea typeface="Noto Sans SC" panose="020B0200000000000000" charset="-122"/>
                <a:sym typeface="Noto Sans SC" panose="020B0200000000000000" charset="-122"/>
              </a:rPr>
              <a:t>等级</a:t>
            </a:r>
            <a:endParaRPr lang="en-US" altLang="zh-CN" sz="2800" b="1" dirty="0">
              <a:solidFill>
                <a:srgbClr val="0D1326"/>
              </a:solidFill>
              <a:latin typeface="Noto Sans SC" panose="020B0200000000000000" charset="-122"/>
              <a:ea typeface="Noto Sans SC" panose="020B0200000000000000" charset="-122"/>
            </a:endParaRPr>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7" name="AutoShape 7"/>
          <p:cNvSpPr txBox="1"/>
          <p:nvPr/>
        </p:nvSpPr>
        <p:spPr>
          <a:xfrm>
            <a:off x="1016000" y="2001805"/>
            <a:ext cx="381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200" dirty="0"/>
          </a:p>
        </p:txBody>
      </p:sp>
      <p:sp>
        <p:nvSpPr>
          <p:cNvPr id="8" name="AutoShape 8"/>
          <p:cNvSpPr txBox="1"/>
          <p:nvPr/>
        </p:nvSpPr>
        <p:spPr>
          <a:xfrm>
            <a:off x="8551059" y="2247974"/>
            <a:ext cx="3293183" cy="2668385"/>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110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defRPr>
            </a:lvl1pPr>
          </a:lstStyle>
          <a:p>
            <a:pPr algn="ctr">
              <a:lnSpc>
                <a:spcPct val="150000"/>
              </a:lnSpc>
            </a:pPr>
            <a:r>
              <a:rPr lang="zh-CN" altLang="zh-CN" sz="1600" b="1" dirty="0">
                <a:solidFill>
                  <a:schemeClr val="tx1"/>
                </a:solidFill>
              </a:rPr>
              <a:t>严格依据</a:t>
            </a:r>
            <a:r>
              <a:rPr lang="en-US" altLang="zh-CN" sz="1600" b="1" dirty="0">
                <a:solidFill>
                  <a:schemeClr val="tx1"/>
                </a:solidFill>
              </a:rPr>
              <a:t>FIRST.org</a:t>
            </a:r>
            <a:r>
              <a:rPr lang="zh-CN" altLang="zh-CN" sz="1600" b="1" dirty="0">
                <a:solidFill>
                  <a:schemeClr val="tx1"/>
                </a:solidFill>
              </a:rPr>
              <a:t>规范实现</a:t>
            </a:r>
            <a:r>
              <a:rPr lang="zh-CN" altLang="en-US" sz="1600" b="1" dirty="0">
                <a:solidFill>
                  <a:schemeClr val="tx1"/>
                </a:solidFill>
              </a:rPr>
              <a:t>：</a:t>
            </a:r>
            <a:endParaRPr lang="en-US" altLang="zh-CN" sz="1600" b="1" dirty="0">
              <a:solidFill>
                <a:schemeClr val="tx1"/>
              </a:solidFill>
            </a:endParaRPr>
          </a:p>
          <a:p>
            <a:pPr algn="ctr">
              <a:lnSpc>
                <a:spcPct val="150000"/>
              </a:lnSpc>
            </a:pPr>
            <a:r>
              <a:rPr lang="zh-CN" altLang="zh-CN" sz="1600" dirty="0">
                <a:solidFill>
                  <a:schemeClr val="tx1"/>
                </a:solidFill>
              </a:rPr>
              <a:t>攻击向量</a:t>
            </a:r>
            <a:r>
              <a:rPr lang="zh-CN" altLang="zh-CN" sz="1600" b="1" dirty="0">
                <a:solidFill>
                  <a:schemeClr val="tx1"/>
                </a:solidFill>
              </a:rPr>
              <a:t>（</a:t>
            </a:r>
            <a:r>
              <a:rPr lang="en-US" altLang="zh-CN" sz="1600" b="1" dirty="0">
                <a:solidFill>
                  <a:schemeClr val="tx1"/>
                </a:solidFill>
              </a:rPr>
              <a:t>AV</a:t>
            </a:r>
            <a:r>
              <a:rPr lang="zh-CN" altLang="zh-CN" sz="1600" b="1" dirty="0">
                <a:solidFill>
                  <a:schemeClr val="tx1"/>
                </a:solidFill>
              </a:rPr>
              <a:t>）</a:t>
            </a:r>
            <a:endParaRPr lang="en-US" altLang="zh-CN" sz="1600" b="1" dirty="0">
              <a:solidFill>
                <a:schemeClr val="tx1"/>
              </a:solidFill>
            </a:endParaRPr>
          </a:p>
          <a:p>
            <a:pPr algn="ctr"/>
            <a:r>
              <a:rPr lang="zh-CN" altLang="zh-CN" sz="1600" dirty="0">
                <a:solidFill>
                  <a:schemeClr val="tx1"/>
                </a:solidFill>
              </a:rPr>
              <a:t>攻击复杂度</a:t>
            </a:r>
            <a:r>
              <a:rPr lang="zh-CN" altLang="zh-CN" sz="1600" b="1" dirty="0">
                <a:solidFill>
                  <a:schemeClr val="tx1"/>
                </a:solidFill>
              </a:rPr>
              <a:t>（</a:t>
            </a:r>
            <a:r>
              <a:rPr lang="en-US" altLang="zh-CN" sz="1600" b="1" dirty="0">
                <a:solidFill>
                  <a:schemeClr val="tx1"/>
                </a:solidFill>
              </a:rPr>
              <a:t>AC</a:t>
            </a:r>
            <a:r>
              <a:rPr lang="zh-CN" altLang="zh-CN" sz="1600" b="1" dirty="0">
                <a:solidFill>
                  <a:schemeClr val="tx1"/>
                </a:solidFill>
              </a:rPr>
              <a:t>）</a:t>
            </a:r>
            <a:endParaRPr lang="en-US" altLang="zh-CN" sz="1600" b="1" dirty="0">
              <a:solidFill>
                <a:schemeClr val="tx1"/>
              </a:solidFill>
            </a:endParaRPr>
          </a:p>
          <a:p>
            <a:pPr algn="ctr"/>
            <a:r>
              <a:rPr lang="zh-CN" altLang="zh-CN" sz="1600" dirty="0">
                <a:solidFill>
                  <a:schemeClr val="tx1"/>
                </a:solidFill>
              </a:rPr>
              <a:t>权限要求</a:t>
            </a:r>
            <a:r>
              <a:rPr lang="zh-CN" altLang="en-US" sz="1600" b="1" dirty="0">
                <a:solidFill>
                  <a:schemeClr val="tx1"/>
                </a:solidFill>
              </a:rPr>
              <a:t>（</a:t>
            </a:r>
            <a:r>
              <a:rPr lang="en-US" altLang="zh-CN" sz="1600" b="1" dirty="0">
                <a:solidFill>
                  <a:schemeClr val="tx1"/>
                </a:solidFill>
              </a:rPr>
              <a:t>PR</a:t>
            </a:r>
            <a:r>
              <a:rPr lang="zh-CN" altLang="en-US" sz="1600" b="1" dirty="0">
                <a:solidFill>
                  <a:schemeClr val="tx1"/>
                </a:solidFill>
              </a:rPr>
              <a:t>）</a:t>
            </a:r>
            <a:endParaRPr lang="en-US" altLang="zh-CN" sz="1600" b="1" dirty="0">
              <a:solidFill>
                <a:schemeClr val="tx1"/>
              </a:solidFill>
            </a:endParaRPr>
          </a:p>
          <a:p>
            <a:pPr algn="ctr"/>
            <a:r>
              <a:rPr lang="zh-CN" altLang="zh-CN" sz="1600" dirty="0">
                <a:solidFill>
                  <a:schemeClr val="tx1"/>
                </a:solidFill>
              </a:rPr>
              <a:t>用户交互</a:t>
            </a:r>
            <a:r>
              <a:rPr lang="zh-CN" altLang="zh-CN" sz="1600" b="1" dirty="0">
                <a:solidFill>
                  <a:schemeClr val="tx1"/>
                </a:solidFill>
              </a:rPr>
              <a:t>（</a:t>
            </a:r>
            <a:r>
              <a:rPr lang="en-US" altLang="zh-CN" sz="1600" b="1" dirty="0">
                <a:solidFill>
                  <a:schemeClr val="tx1"/>
                </a:solidFill>
              </a:rPr>
              <a:t>UI</a:t>
            </a:r>
            <a:r>
              <a:rPr lang="zh-CN" altLang="zh-CN" sz="1600" b="1" dirty="0">
                <a:solidFill>
                  <a:schemeClr val="tx1"/>
                </a:solidFill>
              </a:rPr>
              <a:t>）</a:t>
            </a:r>
            <a:endParaRPr lang="en-US" altLang="zh-CN" sz="1600" b="1" dirty="0">
              <a:solidFill>
                <a:schemeClr val="tx1"/>
              </a:solidFill>
            </a:endParaRPr>
          </a:p>
          <a:p>
            <a:pPr algn="ctr"/>
            <a:r>
              <a:rPr lang="en-US" altLang="zh-CN" sz="1600" b="1" dirty="0">
                <a:solidFill>
                  <a:schemeClr val="tx1"/>
                </a:solidFill>
              </a:rPr>
              <a:t>C/I/A</a:t>
            </a:r>
            <a:r>
              <a:rPr lang="zh-CN" altLang="zh-CN" sz="1600" dirty="0">
                <a:solidFill>
                  <a:schemeClr val="tx1"/>
                </a:solidFill>
              </a:rPr>
              <a:t>影响的基础分计算公式</a:t>
            </a:r>
            <a:endParaRPr lang="en-US" altLang="zh-CN" sz="1600" dirty="0">
              <a:solidFill>
                <a:schemeClr val="tx1"/>
              </a:solidFill>
            </a:endParaRPr>
          </a:p>
          <a:p>
            <a:pPr algn="ctr"/>
            <a:r>
              <a:rPr lang="en-US" altLang="zh-CN" sz="1600" b="1" dirty="0">
                <a:solidFill>
                  <a:schemeClr val="tx1"/>
                </a:solidFill>
              </a:rPr>
              <a:t>roundup</a:t>
            </a:r>
            <a:r>
              <a:rPr lang="zh-CN" altLang="zh-CN" sz="1600" dirty="0">
                <a:solidFill>
                  <a:schemeClr val="tx1"/>
                </a:solidFill>
              </a:rPr>
              <a:t>取整</a:t>
            </a:r>
            <a:endParaRPr lang="en-US" altLang="zh-CN" sz="1600" dirty="0">
              <a:solidFill>
                <a:schemeClr val="tx1"/>
              </a:solidFill>
            </a:endParaRPr>
          </a:p>
        </p:txBody>
      </p:sp>
      <p:sp>
        <p:nvSpPr>
          <p:cNvPr id="19" name="AutoShape 19"/>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
        <p:nvSpPr>
          <p:cNvPr id="13" name="文本框 12"/>
          <p:cNvSpPr txBox="1"/>
          <p:nvPr/>
        </p:nvSpPr>
        <p:spPr>
          <a:xfrm>
            <a:off x="5026131" y="6037871"/>
            <a:ext cx="6946985" cy="553998"/>
          </a:xfrm>
          <a:prstGeom prst="rect">
            <a:avLst/>
          </a:prstGeom>
          <a:noFill/>
        </p:spPr>
        <p:txBody>
          <a:bodyPr wrap="square" rtlCol="0">
            <a:spAutoFit/>
          </a:bodyPr>
          <a:lstStyle/>
          <a:p>
            <a:r>
              <a:rPr lang="zh-CN" altLang="zh-CN" sz="1600" dirty="0">
                <a:solidFill>
                  <a:srgbClr val="004D86"/>
                </a:solidFill>
                <a:latin typeface="Noto Sans SC" panose="020B0200000000000000" charset="-122"/>
                <a:ea typeface="Noto Sans SC" panose="020B0200000000000000" charset="-122"/>
              </a:rPr>
              <a:t>输出分值、严重等级（</a:t>
            </a:r>
            <a:r>
              <a:rPr lang="en-US" altLang="zh-CN" sz="1600" dirty="0">
                <a:solidFill>
                  <a:srgbClr val="004D86"/>
                </a:solidFill>
                <a:latin typeface="Noto Sans SC" panose="020B0200000000000000" charset="-122"/>
                <a:ea typeface="Noto Sans SC" panose="020B0200000000000000" charset="-122"/>
              </a:rPr>
              <a:t>None/Low/Medium/High/Critical</a:t>
            </a:r>
            <a:r>
              <a:rPr lang="zh-CN" altLang="zh-CN" sz="1600" dirty="0">
                <a:solidFill>
                  <a:srgbClr val="004D86"/>
                </a:solidFill>
                <a:latin typeface="Noto Sans SC" panose="020B0200000000000000" charset="-122"/>
                <a:ea typeface="Noto Sans SC" panose="020B0200000000000000" charset="-122"/>
              </a:rPr>
              <a:t>）与向量串</a:t>
            </a:r>
            <a:endParaRPr lang="en-US" altLang="zh-CN" sz="1600" dirty="0">
              <a:solidFill>
                <a:srgbClr val="004D86"/>
              </a:solidFill>
              <a:latin typeface="Noto Sans SC" panose="020B0200000000000000" charset="-122"/>
              <a:ea typeface="Noto Sans SC" panose="020B0200000000000000" charset="-122"/>
            </a:endParaRPr>
          </a:p>
          <a:p>
            <a:endParaRPr lang="zh-CN" altLang="en-US" dirty="0"/>
          </a:p>
        </p:txBody>
      </p:sp>
      <p:pic>
        <p:nvPicPr>
          <p:cNvPr id="9" name="图片 8"/>
          <p:cNvPicPr>
            <a:picLocks noChangeAspect="1"/>
          </p:cNvPicPr>
          <p:nvPr/>
        </p:nvPicPr>
        <p:blipFill>
          <a:blip r:embed="rId2"/>
          <a:stretch>
            <a:fillRect/>
          </a:stretch>
        </p:blipFill>
        <p:spPr>
          <a:xfrm>
            <a:off x="1208973" y="1833889"/>
            <a:ext cx="6883570" cy="382240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709155" y="265052"/>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dirty="0">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a:t>
            </a:r>
            <a:r>
              <a:rPr lang="en-US" sz="1100" b="0" i="0" u="none" strike="noStrike" dirty="0" err="1">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核心功能模块</a:t>
            </a:r>
            <a:endParaRPr lang="en-US" sz="1100" dirty="0"/>
          </a:p>
        </p:txBody>
      </p:sp>
      <p:sp>
        <p:nvSpPr>
          <p:cNvPr id="4" name="AutoShape 4"/>
          <p:cNvSpPr txBox="1"/>
          <p:nvPr/>
        </p:nvSpPr>
        <p:spPr>
          <a:xfrm>
            <a:off x="788934" y="572153"/>
            <a:ext cx="5202738"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仪表盘</a:t>
            </a:r>
            <a:r>
              <a:rPr lang="en-US" sz="24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4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a:t>
            </a:r>
            <a:r>
              <a:rPr lang="en-US" sz="24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安全态势</a:t>
            </a:r>
            <a:r>
              <a:rPr lang="zh-CN" altLang="en-US" sz="24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a:t>
            </a:r>
            <a:r>
              <a:rPr lang="en-US" sz="24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总览</a:t>
            </a:r>
            <a:endParaRPr lang="en-US" sz="1050" dirty="0"/>
          </a:p>
        </p:txBody>
      </p:sp>
      <p:sp>
        <p:nvSpPr>
          <p:cNvPr id="7" name="AutoShape 7"/>
          <p:cNvSpPr txBox="1"/>
          <p:nvPr/>
        </p:nvSpPr>
        <p:spPr>
          <a:xfrm>
            <a:off x="1270000" y="5994400"/>
            <a:ext cx="9652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图：系统仪表盘</a:t>
            </a:r>
            <a:r>
              <a:rPr lang="en-US" sz="10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0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资产统计</a:t>
            </a:r>
            <a:r>
              <a:rPr lang="en-US" sz="10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0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漏洞处置全生命周期看板</a:t>
            </a:r>
            <a:r>
              <a:rPr lang="en-US" sz="10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0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等级分布</a:t>
            </a:r>
            <a:r>
              <a:rPr lang="en-US" sz="10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近6个月趋势 · </a:t>
            </a:r>
            <a:r>
              <a:rPr lang="en-US" sz="10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TOP单位</a:t>
            </a:r>
            <a:endParaRPr lang="en-US" sz="1100" dirty="0">
              <a:solidFill>
                <a:schemeClr val="tx1">
                  <a:lumMod val="85000"/>
                  <a:lumOff val="15000"/>
                </a:schemeClr>
              </a:solidFill>
            </a:endParaRPr>
          </a:p>
        </p:txBody>
      </p:sp>
      <p:sp>
        <p:nvSpPr>
          <p:cNvPr id="8" name="AutoShape 8"/>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pic>
        <p:nvPicPr>
          <p:cNvPr id="5" name="图片 4"/>
          <p:cNvPicPr/>
          <p:nvPr/>
        </p:nvPicPr>
        <p:blipFill>
          <a:blip r:embed="rId2" cstate="print">
            <a:extLst>
              <a:ext uri="{28A0092B-C50C-407E-A947-70E740481C1C}">
                <a14:useLocalDpi xmlns:a14="http://schemas.microsoft.com/office/drawing/2010/main" val="0"/>
              </a:ext>
            </a:extLst>
          </a:blip>
          <a:stretch>
            <a:fillRect/>
          </a:stretch>
        </p:blipFill>
        <p:spPr>
          <a:xfrm>
            <a:off x="1821128" y="1308753"/>
            <a:ext cx="8341087" cy="44801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709155" y="265052"/>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dirty="0">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a:t>
            </a:r>
            <a:r>
              <a:rPr lang="en-US" sz="1100" b="0" i="0" u="none" strike="noStrike" dirty="0" err="1">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核心功能模块</a:t>
            </a:r>
            <a:endParaRPr lang="en-US" sz="1100" dirty="0"/>
          </a:p>
        </p:txBody>
      </p:sp>
      <p:sp>
        <p:nvSpPr>
          <p:cNvPr id="4" name="AutoShape 4"/>
          <p:cNvSpPr txBox="1"/>
          <p:nvPr/>
        </p:nvSpPr>
        <p:spPr>
          <a:xfrm>
            <a:off x="788933" y="572153"/>
            <a:ext cx="9987485"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系统设置与</a:t>
            </a:r>
            <a:r>
              <a:rPr lang="en-US" altLang="zh-CN" sz="24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sz="24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模型配置</a:t>
            </a:r>
            <a:r>
              <a:rPr lang="en-US" sz="24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4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个性化界面设置，各类</a:t>
            </a:r>
            <a:r>
              <a:rPr lang="en-US" altLang="zh-CN" sz="24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sz="24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模型配置连接</a:t>
            </a:r>
            <a:endParaRPr lang="en-US" sz="1050" dirty="0"/>
          </a:p>
        </p:txBody>
      </p:sp>
      <p:sp>
        <p:nvSpPr>
          <p:cNvPr id="8" name="AutoShape 8"/>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
        <p:nvSpPr>
          <p:cNvPr id="17" name="AutoShape 16"/>
          <p:cNvSpPr txBox="1"/>
          <p:nvPr/>
        </p:nvSpPr>
        <p:spPr>
          <a:xfrm>
            <a:off x="7437256" y="3175235"/>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系统界面设置：</a:t>
            </a:r>
            <a:endParaRPr lang="en-US" altLang="zh-CN" sz="1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个性化风格配色，多种类型可自定义</a:t>
            </a:r>
            <a:endParaRPr lang="en-US" sz="120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9"/>
          <p:cNvSpPr txBox="1"/>
          <p:nvPr/>
        </p:nvSpPr>
        <p:spPr>
          <a:xfrm>
            <a:off x="7183256" y="3189384"/>
            <a:ext cx="25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1" name="AutoShape 16"/>
          <p:cNvSpPr txBox="1"/>
          <p:nvPr/>
        </p:nvSpPr>
        <p:spPr>
          <a:xfrm>
            <a:off x="7437256" y="2094671"/>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1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sz="1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模型配置：</a:t>
            </a:r>
            <a:endParaRPr lang="en-US" altLang="zh-CN" sz="1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各类</a:t>
            </a:r>
            <a:r>
              <a:rPr lang="en-US" altLang="zh-CN"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模型配置，可测试连接</a:t>
            </a:r>
            <a:endParaRPr lang="en-US" sz="120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9"/>
          <p:cNvSpPr txBox="1"/>
          <p:nvPr/>
        </p:nvSpPr>
        <p:spPr>
          <a:xfrm>
            <a:off x="7183256" y="2126421"/>
            <a:ext cx="25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pic>
        <p:nvPicPr>
          <p:cNvPr id="9" name="图片 8"/>
          <p:cNvPicPr/>
          <p:nvPr/>
        </p:nvPicPr>
        <p:blipFill>
          <a:blip r:embed="rId2" cstate="print">
            <a:extLst>
              <a:ext uri="{28A0092B-C50C-407E-A947-70E740481C1C}">
                <a14:useLocalDpi xmlns:a14="http://schemas.microsoft.com/office/drawing/2010/main" val="0"/>
              </a:ext>
            </a:extLst>
          </a:blip>
          <a:stretch>
            <a:fillRect/>
          </a:stretch>
        </p:blipFill>
        <p:spPr>
          <a:xfrm>
            <a:off x="838200" y="1424164"/>
            <a:ext cx="4237027" cy="2544659"/>
          </a:xfrm>
          <a:prstGeom prst="rect">
            <a:avLst/>
          </a:prstGeom>
        </p:spPr>
      </p:pic>
      <p:pic>
        <p:nvPicPr>
          <p:cNvPr id="12" name="图片 11"/>
          <p:cNvPicPr>
            <a:picLocks noChangeAspect="1"/>
          </p:cNvPicPr>
          <p:nvPr/>
        </p:nvPicPr>
        <p:blipFill>
          <a:blip r:embed="rId3"/>
          <a:stretch>
            <a:fillRect/>
          </a:stretch>
        </p:blipFill>
        <p:spPr>
          <a:xfrm>
            <a:off x="1325066" y="2340064"/>
            <a:ext cx="4539267" cy="2544659"/>
          </a:xfrm>
          <a:prstGeom prst="rect">
            <a:avLst/>
          </a:prstGeom>
        </p:spPr>
      </p:pic>
      <p:pic>
        <p:nvPicPr>
          <p:cNvPr id="7" name="图片 6"/>
          <p:cNvPicPr>
            <a:picLocks noChangeAspect="1"/>
          </p:cNvPicPr>
          <p:nvPr/>
        </p:nvPicPr>
        <p:blipFill>
          <a:blip r:embed="rId4"/>
          <a:stretch>
            <a:fillRect/>
          </a:stretch>
        </p:blipFill>
        <p:spPr>
          <a:xfrm>
            <a:off x="2019564" y="3590034"/>
            <a:ext cx="4590402" cy="2507135"/>
          </a:xfrm>
          <a:prstGeom prst="rect">
            <a:avLst/>
          </a:prstGeom>
        </p:spPr>
      </p:pic>
      <p:sp>
        <p:nvSpPr>
          <p:cNvPr id="14" name="AutoShape 16"/>
          <p:cNvSpPr txBox="1"/>
          <p:nvPr/>
        </p:nvSpPr>
        <p:spPr>
          <a:xfrm>
            <a:off x="7437256" y="4221661"/>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用户管理界面：</a:t>
            </a:r>
            <a:endParaRPr lang="en-US" altLang="zh-CN" sz="1800" b="1"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i="0" u="none" strike="noStrike"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支持团队协作，用户信息管理</a:t>
            </a:r>
            <a:endParaRPr lang="en-US" sz="120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9"/>
          <p:cNvSpPr txBox="1"/>
          <p:nvPr/>
        </p:nvSpPr>
        <p:spPr>
          <a:xfrm>
            <a:off x="7183256" y="4235810"/>
            <a:ext cx="25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04 · 关键技术实现</a:t>
            </a:r>
            <a:endParaRPr lang="en-US" sz="110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三大关键技术突破，保证专业性与可靠性</a:t>
            </a:r>
            <a:endParaRPr lang="en-US" sz="110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6" name="AutoShape 6"/>
          <p:cNvSpPr txBox="1"/>
          <p:nvPr/>
        </p:nvSpPr>
        <p:spPr>
          <a:xfrm>
            <a:off x="1016000" y="1968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txBox="1"/>
          <p:nvPr/>
        </p:nvSpPr>
        <p:spPr>
          <a:xfrm>
            <a:off x="1016000" y="25400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异构扫描结果归一化</a:t>
            </a:r>
            <a:endParaRPr lang="en-US" sz="1100"/>
          </a:p>
        </p:txBody>
      </p:sp>
      <p:sp>
        <p:nvSpPr>
          <p:cNvPr id="8" name="AutoShape 8"/>
          <p:cNvSpPr txBox="1"/>
          <p:nvPr/>
        </p:nvSpPr>
        <p:spPr>
          <a:xfrm>
            <a:off x="923946" y="3048000"/>
            <a:ext cx="3077448"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格式特征识别</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递归字段嗅探</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严重程度词表归一，将</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Nuclei、Burp、通用</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JSON、纯文本等多源数据映射为统一结构</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solidFill>
                <a:schemeClr val="tx2">
                  <a:lumMod val="25000"/>
                </a:schemeClr>
              </a:solidFill>
            </a:endParaRPr>
          </a:p>
        </p:txBody>
      </p:sp>
      <p:sp>
        <p:nvSpPr>
          <p:cNvPr id="9" name="AutoShape 9"/>
          <p:cNvSpPr txBox="1"/>
          <p:nvPr/>
        </p:nvSpPr>
        <p:spPr>
          <a:xfrm>
            <a:off x="1016000" y="4699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效果：</a:t>
            </a:r>
            <a:r>
              <a:rPr lang="en-US" sz="1100" b="0"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打通扫描器到正式报告的最后一公里</a:t>
            </a:r>
            <a:endParaRPr lang="en-US" sz="1100" dirty="0"/>
          </a:p>
        </p:txBody>
      </p:sp>
      <p:cxnSp>
        <p:nvCxnSpPr>
          <p:cNvPr id="10" name="Connector 10"/>
          <p:cNvCxnSpPr/>
          <p:nvPr/>
        </p:nvCxnSpPr>
        <p:spPr>
          <a:xfrm rot="5387499">
            <a:off x="2698750" y="3708412"/>
            <a:ext cx="34925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11" name="AutoShape 11"/>
          <p:cNvSpPr txBox="1"/>
          <p:nvPr/>
        </p:nvSpPr>
        <p:spPr>
          <a:xfrm>
            <a:off x="4826000" y="1968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txBox="1"/>
          <p:nvPr/>
        </p:nvSpPr>
        <p:spPr>
          <a:xfrm>
            <a:off x="4826000" y="25400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CVSS v3.1 精确计算</a:t>
            </a:r>
            <a:endParaRPr lang="en-US" sz="1100"/>
          </a:p>
        </p:txBody>
      </p:sp>
      <p:sp>
        <p:nvSpPr>
          <p:cNvPr id="13" name="AutoShape 13"/>
          <p:cNvSpPr txBox="1"/>
          <p:nvPr/>
        </p:nvSpPr>
        <p:spPr>
          <a:xfrm>
            <a:off x="4796552" y="3060700"/>
            <a:ext cx="3261598"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2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完整实现</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ISC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Base、影响分（Scope</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改变</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不变两套公式</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可利用性分与</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1.08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系数放大，采用规范</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roundup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一位小数向上取整</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solidFill>
                <a:schemeClr val="tx2">
                  <a:lumMod val="25000"/>
                </a:schemeClr>
              </a:solidFill>
            </a:endParaRPr>
          </a:p>
        </p:txBody>
      </p:sp>
      <p:sp>
        <p:nvSpPr>
          <p:cNvPr id="14" name="AutoShape 14"/>
          <p:cNvSpPr txBox="1"/>
          <p:nvPr/>
        </p:nvSpPr>
        <p:spPr>
          <a:xfrm>
            <a:off x="4826000" y="4699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a:t>
            </a:r>
            <a:r>
              <a:rPr lang="en-US" sz="1100" b="0"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9.8 / 8.5 / 3.5 / 0.0 与 FIRST.org </a:t>
            </a:r>
            <a:r>
              <a:rPr lang="en-US" sz="1100" b="0"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官方一致</a:t>
            </a:r>
            <a:endParaRPr lang="en-US" sz="1100" dirty="0"/>
          </a:p>
        </p:txBody>
      </p:sp>
      <p:cxnSp>
        <p:nvCxnSpPr>
          <p:cNvPr id="15" name="Connector 15"/>
          <p:cNvCxnSpPr/>
          <p:nvPr/>
        </p:nvCxnSpPr>
        <p:spPr>
          <a:xfrm rot="5387499">
            <a:off x="6508750" y="3708412"/>
            <a:ext cx="34925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16" name="AutoShape 16"/>
          <p:cNvSpPr txBox="1"/>
          <p:nvPr/>
        </p:nvSpPr>
        <p:spPr>
          <a:xfrm>
            <a:off x="8636000" y="19685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7" name="AutoShape 17"/>
          <p:cNvSpPr txBox="1"/>
          <p:nvPr/>
        </p:nvSpPr>
        <p:spPr>
          <a:xfrm>
            <a:off x="8636000" y="25400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无向量库本地 RAG</a:t>
            </a:r>
            <a:endParaRPr lang="en-US" sz="1100"/>
          </a:p>
        </p:txBody>
      </p:sp>
      <p:sp>
        <p:nvSpPr>
          <p:cNvPr id="18" name="AutoShape 18"/>
          <p:cNvSpPr txBox="1"/>
          <p:nvPr/>
        </p:nvSpPr>
        <p:spPr>
          <a:xfrm>
            <a:off x="8616055" y="3022600"/>
            <a:ext cx="2808490"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对中文漏洞名称与正文做</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bigram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切分，以</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Jaccard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式重合度加权召回</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Top-K </a:t>
            </a:r>
            <a:r>
              <a:rPr lang="en-US" sz="1200" b="0" i="0" u="none" strike="noStrike" dirty="0" err="1">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知识，拼入提示词约束模型口径</a:t>
            </a:r>
            <a:r>
              <a:rPr lang="en-US" sz="1200" b="0" i="0" u="none" strike="noStrike" dirty="0">
                <a:solidFill>
                  <a:schemeClr val="tx2">
                    <a:lumMod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solidFill>
                <a:schemeClr val="tx2">
                  <a:lumMod val="25000"/>
                </a:schemeClr>
              </a:solidFill>
            </a:endParaRPr>
          </a:p>
        </p:txBody>
      </p:sp>
      <p:sp>
        <p:nvSpPr>
          <p:cNvPr id="19" name="AutoShape 19"/>
          <p:cNvSpPr txBox="1"/>
          <p:nvPr/>
        </p:nvSpPr>
        <p:spPr>
          <a:xfrm>
            <a:off x="8616055" y="4699000"/>
            <a:ext cx="2890656"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优势：</a:t>
            </a:r>
            <a:r>
              <a:rPr lang="en-US" sz="1100" b="0"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零外部依赖</a:t>
            </a:r>
            <a:r>
              <a:rPr lang="en-US" sz="1100" b="0"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100" b="0"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离线可用</a:t>
            </a:r>
            <a:r>
              <a:rPr lang="en-US" sz="1100" b="0"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100" b="0"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毫秒级响应</a:t>
            </a:r>
            <a:endParaRPr lang="en-US" sz="1100" dirty="0"/>
          </a:p>
        </p:txBody>
      </p:sp>
      <p:cxnSp>
        <p:nvCxnSpPr>
          <p:cNvPr id="20" name="Connector 20"/>
          <p:cNvCxnSpPr/>
          <p:nvPr/>
        </p:nvCxnSpPr>
        <p:spPr>
          <a:xfrm rot="-4297">
            <a:off x="1016004" y="5772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21" name="AutoShape 21"/>
          <p:cNvSpPr txBox="1"/>
          <p:nvPr/>
        </p:nvSpPr>
        <p:spPr>
          <a:xfrm>
            <a:off x="1016000" y="59436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其他技术亮点：LLM 稳定结构化与思考模型适配 · Word/PDF 双引擎模板渲染 · 系统自身安全防护 · 内置扫描引擎任务调度</a:t>
            </a:r>
            <a:endParaRPr lang="en-US" sz="1100"/>
          </a:p>
        </p:txBody>
      </p:sp>
      <p:sp>
        <p:nvSpPr>
          <p:cNvPr id="22" name="AutoShape 22"/>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dirty="0">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04 · </a:t>
            </a:r>
            <a:r>
              <a:rPr lang="en-US" sz="1100" b="0" i="0" u="none" strike="noStrike" dirty="0" err="1">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测试与验证</a:t>
            </a:r>
            <a:endParaRPr lang="en-US" sz="1100" dirty="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全量端到端回归测试，功能完整运行稳定</a:t>
            </a:r>
            <a:endParaRPr lang="en-US" sz="110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6" name="AutoShape 6"/>
          <p:cNvSpPr txBox="1"/>
          <p:nvPr/>
        </p:nvSpPr>
        <p:spPr>
          <a:xfrm>
            <a:off x="1016000" y="1968500"/>
            <a:ext cx="228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32</a:t>
            </a:r>
            <a:endParaRPr lang="en-US" sz="1100"/>
          </a:p>
        </p:txBody>
      </p:sp>
      <p:sp>
        <p:nvSpPr>
          <p:cNvPr id="7" name="AutoShape 7"/>
          <p:cNvSpPr txBox="1"/>
          <p:nvPr/>
        </p:nvSpPr>
        <p:spPr>
          <a:xfrm>
            <a:off x="1016000" y="2921000"/>
            <a:ext cx="228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dirty="0">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a:t>
            </a:r>
            <a:r>
              <a:rPr lang="en-US" sz="1300" b="0" i="0" u="none" strike="noStrike" dirty="0" err="1">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模块编译零错误</a:t>
            </a:r>
            <a:endParaRPr lang="en-US" sz="1100" dirty="0"/>
          </a:p>
        </p:txBody>
      </p:sp>
      <p:sp>
        <p:nvSpPr>
          <p:cNvPr id="8" name="AutoShape 8"/>
          <p:cNvSpPr txBox="1"/>
          <p:nvPr/>
        </p:nvSpPr>
        <p:spPr>
          <a:xfrm>
            <a:off x="3556000" y="1968500"/>
            <a:ext cx="228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15+15</a:t>
            </a:r>
            <a:endParaRPr lang="en-US" sz="900" dirty="0"/>
          </a:p>
        </p:txBody>
      </p:sp>
      <p:sp>
        <p:nvSpPr>
          <p:cNvPr id="9" name="AutoShape 9"/>
          <p:cNvSpPr txBox="1"/>
          <p:nvPr/>
        </p:nvSpPr>
        <p:spPr>
          <a:xfrm>
            <a:off x="3556000" y="2921000"/>
            <a:ext cx="228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页面 + 接口全部正常响应</a:t>
            </a:r>
            <a:endParaRPr lang="en-US" sz="1100"/>
          </a:p>
        </p:txBody>
      </p:sp>
      <p:sp>
        <p:nvSpPr>
          <p:cNvPr id="10" name="AutoShape 10"/>
          <p:cNvSpPr txBox="1"/>
          <p:nvPr/>
        </p:nvSpPr>
        <p:spPr>
          <a:xfrm>
            <a:off x="6096000" y="1968500"/>
            <a:ext cx="228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11" name="AutoShape 11"/>
          <p:cNvSpPr txBox="1"/>
          <p:nvPr/>
        </p:nvSpPr>
        <p:spPr>
          <a:xfrm>
            <a:off x="6096000" y="2921000"/>
            <a:ext cx="228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类模板导出全部通过</a:t>
            </a:r>
            <a:endParaRPr lang="en-US" sz="1100"/>
          </a:p>
        </p:txBody>
      </p:sp>
      <p:sp>
        <p:nvSpPr>
          <p:cNvPr id="12" name="AutoShape 12"/>
          <p:cNvSpPr txBox="1"/>
          <p:nvPr/>
        </p:nvSpPr>
        <p:spPr>
          <a:xfrm>
            <a:off x="8636000" y="1968500"/>
            <a:ext cx="228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600" b="1" i="0" u="none" strike="noStrike">
                <a:solidFill>
                  <a:srgbClr val="16A34A"/>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endParaRPr lang="en-US" sz="1100"/>
          </a:p>
        </p:txBody>
      </p:sp>
      <p:sp>
        <p:nvSpPr>
          <p:cNvPr id="13" name="AutoShape 13"/>
          <p:cNvSpPr txBox="1"/>
          <p:nvPr/>
        </p:nvSpPr>
        <p:spPr>
          <a:xfrm>
            <a:off x="8636000" y="2921000"/>
            <a:ext cx="228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536174"/>
                </a:solidFill>
                <a:latin typeface="Noto Sans SC" panose="020B0200000000000000" charset="-122"/>
                <a:ea typeface="Noto Sans SC" panose="020B0200000000000000" charset="-122"/>
                <a:cs typeface="Noto Sans SC" panose="020B0200000000000000" charset="-122"/>
                <a:sym typeface="Noto Sans SC" panose="020B0200000000000000" charset="-122"/>
              </a:rPr>
              <a:t>已知阻断性问题</a:t>
            </a:r>
            <a:endParaRPr lang="en-US" sz="1100"/>
          </a:p>
        </p:txBody>
      </p:sp>
      <p:cxnSp>
        <p:nvCxnSpPr>
          <p:cNvPr id="14" name="Connector 14"/>
          <p:cNvCxnSpPr/>
          <p:nvPr/>
        </p:nvCxnSpPr>
        <p:spPr>
          <a:xfrm rot="-4297">
            <a:off x="1016004" y="35496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15" name="AutoShape 15"/>
          <p:cNvSpPr txBox="1"/>
          <p:nvPr/>
        </p:nvSpPr>
        <p:spPr>
          <a:xfrm>
            <a:off x="1016000" y="38100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典型测试用例验证</a:t>
            </a:r>
            <a:endParaRPr lang="en-US" sz="1100"/>
          </a:p>
        </p:txBody>
      </p:sp>
      <p:sp>
        <p:nvSpPr>
          <p:cNvPr id="16" name="AutoShape 16"/>
          <p:cNvSpPr txBox="1"/>
          <p:nvPr/>
        </p:nvSpPr>
        <p:spPr>
          <a:xfrm>
            <a:off x="1016000" y="42545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CVSS </a:t>
            </a:r>
            <a:r>
              <a:rPr lang="en-US"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准确性：</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标准向量</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9.8 / 8.5 / 3.5 / 0.0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与官方计算器完全一致</a:t>
            </a:r>
            <a:endParaRPr lang="en-US" sz="1100" dirty="0">
              <a:solidFill>
                <a:schemeClr val="tx1">
                  <a:lumMod val="85000"/>
                  <a:lumOff val="15000"/>
                </a:schemeClr>
              </a:solidFill>
            </a:endParaRPr>
          </a:p>
        </p:txBody>
      </p:sp>
      <p:sp>
        <p:nvSpPr>
          <p:cNvPr id="17" name="AutoShape 17"/>
          <p:cNvSpPr txBox="1"/>
          <p:nvPr/>
        </p:nvSpPr>
        <p:spPr>
          <a:xfrm>
            <a:off x="1016000" y="4953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资产联动：</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填地址自动识别域名，保存自动登记资产，幂等去重</a:t>
            </a:r>
            <a:endParaRPr lang="en-US" sz="1100" dirty="0">
              <a:solidFill>
                <a:schemeClr val="tx1">
                  <a:lumMod val="85000"/>
                  <a:lumOff val="15000"/>
                </a:schemeClr>
              </a:solidFill>
            </a:endParaRPr>
          </a:p>
        </p:txBody>
      </p:sp>
      <p:sp>
        <p:nvSpPr>
          <p:cNvPr id="18" name="AutoShape 18"/>
          <p:cNvSpPr txBox="1"/>
          <p:nvPr/>
        </p:nvSpPr>
        <p:spPr>
          <a:xfrm>
            <a:off x="6604000" y="4267967"/>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处置闭环：</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四态流转正确，非法跳变被后端拦截</a:t>
            </a:r>
            <a:endParaRPr lang="en-US" sz="1100" dirty="0">
              <a:solidFill>
                <a:schemeClr val="tx1">
                  <a:lumMod val="85000"/>
                  <a:lumOff val="15000"/>
                </a:schemeClr>
              </a:solidFill>
            </a:endParaRPr>
          </a:p>
        </p:txBody>
      </p:sp>
      <p:sp>
        <p:nvSpPr>
          <p:cNvPr id="19" name="AutoShape 19"/>
          <p:cNvSpPr txBox="1"/>
          <p:nvPr/>
        </p:nvSpPr>
        <p:spPr>
          <a:xfrm>
            <a:off x="6604000" y="4940811"/>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干净环境：</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清空数据与密钥后复跑冒烟用例全部通过</a:t>
            </a:r>
            <a:endParaRPr lang="en-US" sz="1100" dirty="0">
              <a:solidFill>
                <a:schemeClr val="tx1">
                  <a:lumMod val="85000"/>
                  <a:lumOff val="15000"/>
                </a:schemeClr>
              </a:solidFill>
            </a:endParaRPr>
          </a:p>
        </p:txBody>
      </p:sp>
      <p:cxnSp>
        <p:nvCxnSpPr>
          <p:cNvPr id="20" name="Connector 20"/>
          <p:cNvCxnSpPr/>
          <p:nvPr/>
        </p:nvCxnSpPr>
        <p:spPr>
          <a:xfrm rot="-4297">
            <a:off x="1016004" y="5772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22" name="AutoShape 22"/>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dirty="0">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05 · </a:t>
            </a:r>
            <a:r>
              <a:rPr lang="en-US" sz="1100" b="0" i="0" u="none" strike="noStrike" dirty="0" err="1">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创新特色与展望</a:t>
            </a:r>
            <a:endParaRPr lang="en-US" sz="1100" dirty="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800" b="1" dirty="0">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各</a:t>
            </a:r>
            <a:r>
              <a:rPr lang="en-US" sz="2800" b="1" i="0" u="none" strike="noStrike" dirty="0" err="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大创新点，形成差异化组合优势</a:t>
            </a:r>
            <a:endParaRPr lang="en-US" sz="1100" dirty="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6" name="AutoShape 6"/>
          <p:cNvSpPr txBox="1"/>
          <p:nvPr/>
        </p:nvSpPr>
        <p:spPr>
          <a:xfrm>
            <a:off x="1016000" y="1905000"/>
            <a:ext cx="38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txBox="1"/>
          <p:nvPr/>
        </p:nvSpPr>
        <p:spPr>
          <a:xfrm>
            <a:off x="1524000" y="1930400"/>
            <a:ext cx="406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 + 本地 RAG 双驱动</a:t>
            </a:r>
            <a:endParaRPr lang="en-US" sz="1100"/>
          </a:p>
        </p:txBody>
      </p:sp>
      <p:sp>
        <p:nvSpPr>
          <p:cNvPr id="8" name="AutoShape 8"/>
          <p:cNvSpPr txBox="1"/>
          <p:nvPr/>
        </p:nvSpPr>
        <p:spPr>
          <a:xfrm>
            <a:off x="1266249" y="2324100"/>
            <a:ext cx="419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无外部向量库条件下实现本地知识库相似度召回，注入单位既有整改口径，显著降低大模型幻觉</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solidFill>
                <a:schemeClr val="tx1">
                  <a:lumMod val="85000"/>
                  <a:lumOff val="15000"/>
                </a:schemeClr>
              </a:solidFill>
            </a:endParaRPr>
          </a:p>
        </p:txBody>
      </p:sp>
      <p:sp>
        <p:nvSpPr>
          <p:cNvPr id="9" name="AutoShape 9"/>
          <p:cNvSpPr txBox="1"/>
          <p:nvPr/>
        </p:nvSpPr>
        <p:spPr>
          <a:xfrm>
            <a:off x="6350000" y="1905000"/>
            <a:ext cx="38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0" name="AutoShape 10"/>
          <p:cNvSpPr txBox="1"/>
          <p:nvPr/>
        </p:nvSpPr>
        <p:spPr>
          <a:xfrm>
            <a:off x="6858000" y="1930400"/>
            <a:ext cx="406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规则兜底 + AI 增强质量体检</a:t>
            </a:r>
            <a:endParaRPr lang="en-US" sz="1100"/>
          </a:p>
        </p:txBody>
      </p:sp>
      <p:sp>
        <p:nvSpPr>
          <p:cNvPr id="11" name="AutoShape 11"/>
          <p:cNvSpPr txBox="1"/>
          <p:nvPr/>
        </p:nvSpPr>
        <p:spPr>
          <a:xfrm>
            <a:off x="6540500" y="2266950"/>
            <a:ext cx="419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9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维可解释规则引擎保证质量底线，再以</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AI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专家点评提供高阶建议，首次将交付前质检引入报告生产</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solidFill>
                <a:schemeClr val="tx1">
                  <a:lumMod val="85000"/>
                  <a:lumOff val="15000"/>
                </a:schemeClr>
              </a:solidFill>
            </a:endParaRPr>
          </a:p>
        </p:txBody>
      </p:sp>
      <p:cxnSp>
        <p:nvCxnSpPr>
          <p:cNvPr id="12" name="Connector 12"/>
          <p:cNvCxnSpPr/>
          <p:nvPr/>
        </p:nvCxnSpPr>
        <p:spPr>
          <a:xfrm rot="-4297">
            <a:off x="1016004" y="3105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13" name="AutoShape 13"/>
          <p:cNvSpPr txBox="1"/>
          <p:nvPr/>
        </p:nvSpPr>
        <p:spPr>
          <a:xfrm>
            <a:off x="1016000" y="3302000"/>
            <a:ext cx="38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4" name="AutoShape 14"/>
          <p:cNvSpPr txBox="1"/>
          <p:nvPr/>
        </p:nvSpPr>
        <p:spPr>
          <a:xfrm>
            <a:off x="1524000" y="3327400"/>
            <a:ext cx="406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CVSS v3.1 标准化量化</a:t>
            </a:r>
            <a:endParaRPr lang="en-US" sz="1100"/>
          </a:p>
        </p:txBody>
      </p:sp>
      <p:sp>
        <p:nvSpPr>
          <p:cNvPr id="15" name="AutoShape 15"/>
          <p:cNvSpPr txBox="1"/>
          <p:nvPr/>
        </p:nvSpPr>
        <p:spPr>
          <a:xfrm>
            <a:off x="1266249" y="3710531"/>
            <a:ext cx="419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内置与</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FIRST.org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官方一致的评分器，把主观的"高</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/中/</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低"经验判断转为可复核的向量与分值</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solidFill>
                <a:schemeClr val="tx1">
                  <a:lumMod val="85000"/>
                  <a:lumOff val="15000"/>
                </a:schemeClr>
              </a:solidFill>
            </a:endParaRPr>
          </a:p>
        </p:txBody>
      </p:sp>
      <p:sp>
        <p:nvSpPr>
          <p:cNvPr id="16" name="AutoShape 16"/>
          <p:cNvSpPr txBox="1"/>
          <p:nvPr/>
        </p:nvSpPr>
        <p:spPr>
          <a:xfrm>
            <a:off x="6350000" y="3302000"/>
            <a:ext cx="38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7" name="AutoShape 17"/>
          <p:cNvSpPr txBox="1"/>
          <p:nvPr/>
        </p:nvSpPr>
        <p:spPr>
          <a:xfrm>
            <a:off x="6858000" y="3327400"/>
            <a:ext cx="406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成品报告逆向生成模板</a:t>
            </a:r>
            <a:endParaRPr lang="en-US" sz="1100"/>
          </a:p>
        </p:txBody>
      </p:sp>
      <p:sp>
        <p:nvSpPr>
          <p:cNvPr id="18" name="AutoShape 18"/>
          <p:cNvSpPr txBox="1"/>
          <p:nvPr/>
        </p:nvSpPr>
        <p:spPr>
          <a:xfrm>
            <a:off x="6540500" y="3652316"/>
            <a:ext cx="419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上传一份现成漏洞报告</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docx，自动解析段落并预猜字段映射，生成专属可复用模板，版式完全一致</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solidFill>
                <a:schemeClr val="tx1">
                  <a:lumMod val="85000"/>
                  <a:lumOff val="15000"/>
                </a:schemeClr>
              </a:solidFill>
            </a:endParaRPr>
          </a:p>
        </p:txBody>
      </p:sp>
      <p:cxnSp>
        <p:nvCxnSpPr>
          <p:cNvPr id="19" name="Connector 19"/>
          <p:cNvCxnSpPr/>
          <p:nvPr/>
        </p:nvCxnSpPr>
        <p:spPr>
          <a:xfrm rot="-4297">
            <a:off x="1016004" y="4502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20" name="AutoShape 20"/>
          <p:cNvSpPr txBox="1"/>
          <p:nvPr/>
        </p:nvSpPr>
        <p:spPr>
          <a:xfrm>
            <a:off x="1016000" y="4699000"/>
            <a:ext cx="38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1" name="AutoShape 21"/>
          <p:cNvSpPr txBox="1"/>
          <p:nvPr/>
        </p:nvSpPr>
        <p:spPr>
          <a:xfrm>
            <a:off x="1524000" y="4724400"/>
            <a:ext cx="406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漏洞处置全生命周期闭环</a:t>
            </a:r>
            <a:endParaRPr lang="en-US" sz="1100"/>
          </a:p>
        </p:txBody>
      </p:sp>
      <p:sp>
        <p:nvSpPr>
          <p:cNvPr id="22" name="AutoShape 22"/>
          <p:cNvSpPr txBox="1"/>
          <p:nvPr/>
        </p:nvSpPr>
        <p:spPr>
          <a:xfrm>
            <a:off x="1266249" y="5082131"/>
            <a:ext cx="419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四态状态机</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整改轨迹留痕</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流转合法性校验，把漏洞治理从"发现报告"延伸到"修复验证</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solidFill>
                <a:schemeClr val="tx1">
                  <a:lumMod val="85000"/>
                  <a:lumOff val="15000"/>
                </a:schemeClr>
              </a:solidFill>
            </a:endParaRPr>
          </a:p>
        </p:txBody>
      </p:sp>
      <p:sp>
        <p:nvSpPr>
          <p:cNvPr id="23" name="AutoShape 23"/>
          <p:cNvSpPr txBox="1"/>
          <p:nvPr/>
        </p:nvSpPr>
        <p:spPr>
          <a:xfrm>
            <a:off x="6350000" y="4699000"/>
            <a:ext cx="381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24" name="AutoShape 24"/>
          <p:cNvSpPr txBox="1"/>
          <p:nvPr/>
        </p:nvSpPr>
        <p:spPr>
          <a:xfrm>
            <a:off x="6858000" y="4724400"/>
            <a:ext cx="406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扫描—生成一体化流水线</a:t>
            </a:r>
            <a:endParaRPr lang="en-US" sz="1100"/>
          </a:p>
        </p:txBody>
      </p:sp>
      <p:sp>
        <p:nvSpPr>
          <p:cNvPr id="25" name="AutoShape 25"/>
          <p:cNvSpPr txBox="1"/>
          <p:nvPr/>
        </p:nvSpPr>
        <p:spPr>
          <a:xfrm>
            <a:off x="6540500" y="5054600"/>
            <a:ext cx="419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内置漏洞扫描引擎，发起扫描→自动回收→AI解析→报告导出，打破多工具割裂模式，无缝衔接</a:t>
            </a:r>
            <a:r>
              <a:rPr lang="en-US" sz="12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solidFill>
                <a:schemeClr val="tx1">
                  <a:lumMod val="85000"/>
                  <a:lumOff val="15000"/>
                </a:schemeClr>
              </a:solidFill>
            </a:endParaRPr>
          </a:p>
        </p:txBody>
      </p:sp>
      <p:sp>
        <p:nvSpPr>
          <p:cNvPr id="26" name="AutoShape 26"/>
          <p:cNvSpPr txBox="1"/>
          <p:nvPr/>
        </p:nvSpPr>
        <p:spPr>
          <a:xfrm>
            <a:off x="1016000" y="64135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dirty="0">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05 · </a:t>
            </a:r>
            <a:r>
              <a:rPr lang="en-US" sz="1100" b="0" i="0" u="none" strike="noStrike" dirty="0" err="1">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竞品分析</a:t>
            </a:r>
            <a:endParaRPr lang="en-US" sz="1100" dirty="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与同类方案对比，形成差异化组合优势</a:t>
            </a:r>
            <a:endParaRPr lang="en-US" sz="110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graphicFrame>
        <p:nvGraphicFramePr>
          <p:cNvPr id="6" name="Table 6"/>
          <p:cNvGraphicFramePr>
            <a:graphicFrameLocks noGrp="1"/>
          </p:cNvGraphicFramePr>
          <p:nvPr/>
        </p:nvGraphicFramePr>
        <p:xfrm>
          <a:off x="1016000" y="1905000"/>
          <a:ext cx="10160000" cy="4064000"/>
        </p:xfrm>
        <a:graphic>
          <a:graphicData uri="http://schemas.openxmlformats.org/drawingml/2006/table">
            <a:tbl>
              <a:tblPr>
                <a:effectLst/>
              </a:tblPr>
              <a:tblGrid>
                <a:gridCol w="2032000"/>
                <a:gridCol w="2032000"/>
                <a:gridCol w="2032000"/>
                <a:gridCol w="2032000"/>
                <a:gridCol w="2032000"/>
              </a:tblGrid>
              <a:tr h="482600">
                <a:tc>
                  <a:txBody>
                    <a:bodyPr/>
                    <a:lstStyle/>
                    <a:p>
                      <a:pPr marL="0"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对比维度</a:t>
                      </a:r>
                      <a:endParaRPr lang="en-US" sz="1100"/>
                    </a:p>
                  </a:txBody>
                  <a:tcPr marL="101600" marR="101600" marT="101600" marB="101600" anchor="ctr">
                    <a:lnL>
                      <a:noFill/>
                    </a:lnL>
                    <a:lnR>
                      <a:noFill/>
                    </a:lnR>
                    <a:lnT>
                      <a:noFill/>
                    </a:lnT>
                    <a:lnB>
                      <a:noFill/>
                    </a:lnB>
                    <a:solidFill>
                      <a:srgbClr val="0D1326">
                        <a:alpha val="100000"/>
                      </a:srgbClr>
                    </a:solidFill>
                  </a:tcPr>
                </a:tc>
                <a:tc>
                  <a:txBody>
                    <a:bodyPr/>
                    <a:lstStyle/>
                    <a:p>
                      <a:pPr marL="0"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扫描器自带报告</a:t>
                      </a:r>
                      <a:endParaRPr lang="en-US" sz="1100"/>
                    </a:p>
                  </a:txBody>
                  <a:tcPr marL="101600" marR="101600" marT="101600" marB="101600" anchor="ctr">
                    <a:lnL>
                      <a:noFill/>
                    </a:lnL>
                    <a:lnR>
                      <a:noFill/>
                    </a:lnR>
                    <a:lnT>
                      <a:noFill/>
                    </a:lnT>
                    <a:lnB>
                      <a:noFill/>
                    </a:lnB>
                    <a:solidFill>
                      <a:srgbClr val="0D1326">
                        <a:alpha val="100000"/>
                      </a:srgbClr>
                    </a:solidFill>
                  </a:tcPr>
                </a:tc>
                <a:tc>
                  <a:txBody>
                    <a:bodyPr/>
                    <a:lstStyle/>
                    <a:p>
                      <a:pPr marL="0"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脚本化方案</a:t>
                      </a:r>
                      <a:endParaRPr lang="en-US" sz="1100"/>
                    </a:p>
                  </a:txBody>
                  <a:tcPr marL="101600" marR="101600" marT="101600" marB="101600" anchor="ctr">
                    <a:lnL>
                      <a:noFill/>
                    </a:lnL>
                    <a:lnR>
                      <a:noFill/>
                    </a:lnR>
                    <a:lnT>
                      <a:noFill/>
                    </a:lnT>
                    <a:lnB>
                      <a:noFill/>
                    </a:lnB>
                    <a:solidFill>
                      <a:srgbClr val="0D1326">
                        <a:alpha val="100000"/>
                      </a:srgbClr>
                    </a:solidFill>
                  </a:tcPr>
                </a:tc>
                <a:tc>
                  <a:txBody>
                    <a:bodyPr/>
                    <a:lstStyle/>
                    <a:p>
                      <a:pPr marL="0"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商业安全平台</a:t>
                      </a:r>
                      <a:endParaRPr lang="en-US" sz="1100"/>
                    </a:p>
                  </a:txBody>
                  <a:tcPr marL="101600" marR="101600" marT="101600" marB="101600" anchor="ctr">
                    <a:lnL>
                      <a:noFill/>
                    </a:lnL>
                    <a:lnR>
                      <a:noFill/>
                    </a:lnR>
                    <a:lnT>
                      <a:noFill/>
                    </a:lnT>
                    <a:lnB>
                      <a:noFill/>
                    </a:lnB>
                    <a:solidFill>
                      <a:srgbClr val="0D1326">
                        <a:alpha val="100000"/>
                      </a:srgbClr>
                    </a:solidFill>
                  </a:tcPr>
                </a:tc>
                <a:tc>
                  <a:txBody>
                    <a:bodyPr/>
                    <a:lstStyle/>
                    <a:p>
                      <a:pPr marL="0"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a:t>
                      </a:r>
                      <a:endParaRPr lang="en-US" sz="1100"/>
                    </a:p>
                  </a:txBody>
                  <a:tcPr marL="101600" marR="101600" marT="101600" marB="101600" anchor="ctr">
                    <a:lnL>
                      <a:noFill/>
                    </a:lnL>
                    <a:lnR>
                      <a:noFill/>
                    </a:lnR>
                    <a:lnT>
                      <a:noFill/>
                    </a:lnT>
                    <a:lnB>
                      <a:noFill/>
                    </a:lnB>
                    <a:solidFill>
                      <a:srgbClr val="2563EB">
                        <a:alpha val="100000"/>
                      </a:srgbClr>
                    </a:solidFill>
                  </a:tcPr>
                </a:tc>
              </a:tr>
              <a:tr h="508000">
                <a:tc>
                  <a:txBody>
                    <a:bodyPr/>
                    <a:lstStyle/>
                    <a:p>
                      <a:pPr marL="0" indent="0" algn="l">
                        <a:lnSpc>
                          <a:spcPct val="100000"/>
                        </a:lnSpc>
                        <a:defRPr/>
                      </a:pPr>
                      <a:r>
                        <a:rPr lang="en-US" sz="1100"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扫描多源解析</a:t>
                      </a:r>
                      <a:endParaRPr lang="en-US" sz="1100">
                        <a:solidFill>
                          <a:schemeClr val="tx1">
                            <a:lumMod val="85000"/>
                            <a:lumOff val="15000"/>
                          </a:schemeClr>
                        </a:solidFill>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仅自身格式</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需自行开发</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部分支持</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Nuclei/Burp/JSON/</a:t>
                      </a: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a:t>
                      </a:r>
                      <a:endParaRPr lang="en-US" sz="1100" dirty="0"/>
                    </a:p>
                  </a:txBody>
                  <a:tcPr marL="101600" marR="101600" marT="101600" marB="101600" anchor="ctr">
                    <a:lnL>
                      <a:noFill/>
                    </a:lnL>
                    <a:lnR>
                      <a:noFill/>
                    </a:lnR>
                    <a:lnT>
                      <a:noFill/>
                    </a:lnT>
                    <a:lnB>
                      <a:noFill/>
                    </a:lnB>
                    <a:noFill/>
                  </a:tcPr>
                </a:tc>
              </a:tr>
              <a:tr h="508000">
                <a:tc>
                  <a:txBody>
                    <a:bodyPr/>
                    <a:lstStyle/>
                    <a:p>
                      <a:pPr marL="0" indent="0" algn="l">
                        <a:lnSpc>
                          <a:spcPct val="100000"/>
                        </a:lnSpc>
                        <a:defRPr/>
                      </a:pPr>
                      <a:r>
                        <a:rPr lang="en-US" sz="11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CVSS </a:t>
                      </a:r>
                      <a:r>
                        <a:rPr lang="en-US" sz="11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量化评分</a:t>
                      </a:r>
                      <a:endParaRPr lang="en-US" sz="1100" dirty="0">
                        <a:solidFill>
                          <a:schemeClr val="tx1">
                            <a:lumMod val="85000"/>
                            <a:lumOff val="15000"/>
                          </a:schemeClr>
                        </a:solidFill>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部分</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部分</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v3.1 </a:t>
                      </a: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精确内置</a:t>
                      </a:r>
                      <a:endParaRPr lang="en-US" sz="1100" dirty="0"/>
                    </a:p>
                  </a:txBody>
                  <a:tcPr marL="101600" marR="101600" marT="101600" marB="101600" anchor="ctr">
                    <a:lnL>
                      <a:noFill/>
                    </a:lnL>
                    <a:lnR>
                      <a:noFill/>
                    </a:lnR>
                    <a:lnT>
                      <a:noFill/>
                    </a:lnT>
                    <a:lnB>
                      <a:noFill/>
                    </a:lnB>
                    <a:noFill/>
                  </a:tcPr>
                </a:tc>
              </a:tr>
              <a:tr h="508000">
                <a:tc>
                  <a:txBody>
                    <a:bodyPr/>
                    <a:lstStyle/>
                    <a:p>
                      <a:pPr marL="0" indent="0" algn="l">
                        <a:lnSpc>
                          <a:spcPct val="100000"/>
                        </a:lnSpc>
                        <a:defRPr/>
                      </a:pPr>
                      <a:r>
                        <a:rPr lang="en-US" sz="1100"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报告质量体检</a:t>
                      </a:r>
                      <a:endParaRPr lang="en-US" sz="1100">
                        <a:solidFill>
                          <a:schemeClr val="tx1">
                            <a:lumMod val="85000"/>
                            <a:lumOff val="15000"/>
                          </a:schemeClr>
                        </a:solidFill>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弱</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规则</a:t>
                      </a:r>
                      <a:r>
                        <a:rPr lang="en-US" sz="11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 AI </a:t>
                      </a: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双引擎</a:t>
                      </a:r>
                      <a:endParaRPr lang="en-US" sz="1100" dirty="0"/>
                    </a:p>
                  </a:txBody>
                  <a:tcPr marL="101600" marR="101600" marT="101600" marB="101600" anchor="ctr">
                    <a:lnL>
                      <a:noFill/>
                    </a:lnL>
                    <a:lnR>
                      <a:noFill/>
                    </a:lnR>
                    <a:lnT>
                      <a:noFill/>
                    </a:lnT>
                    <a:lnB>
                      <a:noFill/>
                    </a:lnB>
                    <a:noFill/>
                  </a:tcPr>
                </a:tc>
              </a:tr>
              <a:tr h="508000">
                <a:tc>
                  <a:txBody>
                    <a:bodyPr/>
                    <a:lstStyle/>
                    <a:p>
                      <a:pPr marL="0" indent="0" algn="l">
                        <a:lnSpc>
                          <a:spcPct val="100000"/>
                        </a:lnSpc>
                        <a:defRPr/>
                      </a:pPr>
                      <a:r>
                        <a:rPr lang="en-US" sz="1100"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 RAG 知识增强</a:t>
                      </a:r>
                      <a:endParaRPr lang="en-US" sz="1100">
                        <a:solidFill>
                          <a:schemeClr val="tx1">
                            <a:lumMod val="85000"/>
                            <a:lumOff val="15000"/>
                          </a:schemeClr>
                        </a:solidFill>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部分云端</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本地知识库</a:t>
                      </a:r>
                      <a:r>
                        <a:rPr lang="en-US" sz="11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零依赖</a:t>
                      </a:r>
                      <a:endParaRPr lang="en-US" sz="1100" dirty="0"/>
                    </a:p>
                  </a:txBody>
                  <a:tcPr marL="101600" marR="101600" marT="101600" marB="101600" anchor="ctr">
                    <a:lnL>
                      <a:noFill/>
                    </a:lnL>
                    <a:lnR>
                      <a:noFill/>
                    </a:lnR>
                    <a:lnT>
                      <a:noFill/>
                    </a:lnT>
                    <a:lnB>
                      <a:noFill/>
                    </a:lnB>
                    <a:noFill/>
                  </a:tcPr>
                </a:tc>
              </a:tr>
              <a:tr h="508000">
                <a:tc>
                  <a:txBody>
                    <a:bodyPr/>
                    <a:lstStyle/>
                    <a:p>
                      <a:pPr marL="0" indent="0" algn="l">
                        <a:lnSpc>
                          <a:spcPct val="100000"/>
                        </a:lnSpc>
                        <a:defRPr/>
                      </a:pPr>
                      <a:r>
                        <a:rPr lang="en-US" sz="1100"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模板自定义程度</a:t>
                      </a:r>
                      <a:endParaRPr lang="en-US" sz="1100">
                        <a:solidFill>
                          <a:schemeClr val="tx1">
                            <a:lumMod val="85000"/>
                            <a:lumOff val="15000"/>
                          </a:schemeClr>
                        </a:solidFill>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格式固定</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需编程</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受限</a:t>
                      </a:r>
                      <a:endParaRPr lang="en-US" sz="1100" b="0" i="0" u="none" strike="noStrike" cap="none">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双格式</a:t>
                      </a:r>
                      <a:r>
                        <a:rPr lang="en-US" sz="11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逆向生成</a:t>
                      </a:r>
                      <a:endParaRPr lang="en-US" sz="1100" dirty="0"/>
                    </a:p>
                  </a:txBody>
                  <a:tcPr marL="101600" marR="101600" marT="101600" marB="101600" anchor="ctr">
                    <a:lnL>
                      <a:noFill/>
                    </a:lnL>
                    <a:lnR>
                      <a:noFill/>
                    </a:lnR>
                    <a:lnT>
                      <a:noFill/>
                    </a:lnT>
                    <a:lnB>
                      <a:noFill/>
                    </a:lnB>
                    <a:noFill/>
                  </a:tcPr>
                </a:tc>
              </a:tr>
              <a:tr h="508000">
                <a:tc>
                  <a:txBody>
                    <a:bodyPr/>
                    <a:lstStyle/>
                    <a:p>
                      <a:pPr marL="0" indent="0" algn="l">
                        <a:lnSpc>
                          <a:spcPct val="100000"/>
                        </a:lnSpc>
                        <a:defRPr/>
                      </a:pPr>
                      <a:r>
                        <a:rPr lang="en-US" sz="1100"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漏洞处置闭环</a:t>
                      </a:r>
                      <a:endParaRPr lang="en-US" sz="1100">
                        <a:solidFill>
                          <a:schemeClr val="tx1">
                            <a:lumMod val="85000"/>
                            <a:lumOff val="15000"/>
                          </a:schemeClr>
                        </a:solidFill>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弱</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四态状态机</a:t>
                      </a:r>
                      <a:r>
                        <a:rPr lang="en-US" sz="11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轨迹</a:t>
                      </a:r>
                      <a:endParaRPr lang="en-US" sz="1100" dirty="0"/>
                    </a:p>
                  </a:txBody>
                  <a:tcPr marL="101600" marR="101600" marT="101600" marB="101600" anchor="ctr">
                    <a:lnL>
                      <a:noFill/>
                    </a:lnL>
                    <a:lnR>
                      <a:noFill/>
                    </a:lnR>
                    <a:lnT>
                      <a:noFill/>
                    </a:lnT>
                    <a:lnB>
                      <a:noFill/>
                    </a:lnB>
                    <a:noFill/>
                  </a:tcPr>
                </a:tc>
              </a:tr>
              <a:tr h="533400">
                <a:tc>
                  <a:txBody>
                    <a:bodyPr/>
                    <a:lstStyle/>
                    <a:p>
                      <a:pPr marL="0" indent="0" algn="l">
                        <a:lnSpc>
                          <a:spcPct val="100000"/>
                        </a:lnSpc>
                        <a:defRPr/>
                      </a:pPr>
                      <a:r>
                        <a:rPr lang="en-US" sz="11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数据本地化</a:t>
                      </a:r>
                      <a:endParaRPr lang="en-US" sz="1100" dirty="0">
                        <a:solidFill>
                          <a:schemeClr val="tx1">
                            <a:lumMod val="85000"/>
                            <a:lumOff val="15000"/>
                          </a:schemeClr>
                        </a:solidFill>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是</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是</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100" b="0" i="0" u="none" strike="noStrike" cap="non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多为云端</a:t>
                      </a:r>
                      <a:endParaRPr lang="en-US" sz="1100" b="0" i="0" u="none" strike="noStrike" cap="none" dirty="0">
                        <a:solidFill>
                          <a:schemeClr val="tx1">
                            <a:lumMod val="85000"/>
                            <a:lumOff val="15000"/>
                          </a:schemeClr>
                        </a:solidFill>
                        <a:latin typeface="Noto Sans SC" panose="020B0200000000000000" charset="-122"/>
                        <a:ea typeface="Noto Sans SC" panose="020B0200000000000000" charset="-122"/>
                        <a:sym typeface="Arial" panose="020B0604020202020204"/>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全本地</a:t>
                      </a:r>
                      <a:r>
                        <a:rPr lang="en-US" sz="11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1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密钥本地</a:t>
                      </a:r>
                      <a:endParaRPr lang="en-US" sz="1100" dirty="0"/>
                    </a:p>
                  </a:txBody>
                  <a:tcPr marL="101600" marR="101600" marT="101600" marB="101600" anchor="ctr">
                    <a:lnL>
                      <a:noFill/>
                    </a:lnL>
                    <a:lnR>
                      <a:noFill/>
                    </a:lnR>
                    <a:lnT>
                      <a:noFill/>
                    </a:lnT>
                    <a:lnB>
                      <a:noFill/>
                    </a:lnB>
                    <a:noFill/>
                  </a:tcPr>
                </a:tc>
              </a:tr>
            </a:tbl>
          </a:graphicData>
        </a:graphic>
      </p:graphicFrame>
      <p:sp>
        <p:nvSpPr>
          <p:cNvPr id="7" name="AutoShape 7"/>
          <p:cNvSpPr txBox="1"/>
          <p:nvPr/>
        </p:nvSpPr>
        <p:spPr>
          <a:xfrm>
            <a:off x="1016000" y="6146800"/>
            <a:ext cx="10160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6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a:t>
            </a:r>
            <a:r>
              <a:rPr lang="en-US" sz="1200" b="1"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智安鉴在多源归一、CVSS量化、质量体检、本地RAG、双格式模板与处置闭环等方面形成差异化组合优势，且保持轻量本地部署与低上手门槛</a:t>
            </a:r>
            <a:endParaRPr lang="en-US" sz="1100" dirty="0">
              <a:solidFill>
                <a:schemeClr val="tx1">
                  <a:lumMod val="85000"/>
                  <a:lumOff val="15000"/>
                </a:schemeClr>
              </a:solidFill>
            </a:endParaRPr>
          </a:p>
        </p:txBody>
      </p:sp>
      <p:sp>
        <p:nvSpPr>
          <p:cNvPr id="8" name="AutoShape 8"/>
          <p:cNvSpPr txBox="1"/>
          <p:nvPr/>
        </p:nvSpPr>
        <p:spPr>
          <a:xfrm>
            <a:off x="1016000" y="6540500"/>
            <a:ext cx="5080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80000"/>
          </a:blip>
          <a:srcRect t="12" b="12"/>
          <a:stretch>
            <a:fillRect/>
          </a:stretch>
        </p:blipFill>
        <p:spPr>
          <a:xfrm>
            <a:off x="0" y="0"/>
            <a:ext cx="12192000" cy="6858000"/>
          </a:xfrm>
          <a:prstGeom prst="rect">
            <a:avLst/>
          </a:prstGeom>
          <a:noFill/>
          <a:ln w="25400" cap="flat" cmpd="sng">
            <a:noFill/>
            <a:prstDash val="solid"/>
            <a:round/>
          </a:ln>
        </p:spPr>
      </p:pic>
      <p:sp>
        <p:nvSpPr>
          <p:cNvPr id="3" name="AutoShape 3"/>
          <p:cNvSpPr txBox="1"/>
          <p:nvPr/>
        </p:nvSpPr>
        <p:spPr>
          <a:xfrm>
            <a:off x="1016000" y="508000"/>
            <a:ext cx="381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dirty="0">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05 · </a:t>
            </a:r>
            <a:r>
              <a:rPr lang="en-US" sz="1100" b="0" i="0" u="none" strike="noStrike" dirty="0" err="1">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dirty="0"/>
          </a:p>
        </p:txBody>
      </p:sp>
      <p:sp>
        <p:nvSpPr>
          <p:cNvPr id="4" name="AutoShape 4"/>
          <p:cNvSpPr txBox="1"/>
          <p:nvPr/>
        </p:nvSpPr>
        <p:spPr>
          <a:xfrm>
            <a:off x="1016000" y="8890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应用前景广阔，持续迭代升级</a:t>
            </a:r>
            <a:endParaRPr lang="en-US" sz="1100"/>
          </a:p>
        </p:txBody>
      </p:sp>
      <p:cxnSp>
        <p:nvCxnSpPr>
          <p:cNvPr id="5" name="Connector 5"/>
          <p:cNvCxnSpPr/>
          <p:nvPr/>
        </p:nvCxnSpPr>
        <p:spPr>
          <a:xfrm rot="-4297">
            <a:off x="1016004" y="1581150"/>
            <a:ext cx="101600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6" name="AutoShape 6"/>
          <p:cNvSpPr txBox="1"/>
          <p:nvPr/>
        </p:nvSpPr>
        <p:spPr>
          <a:xfrm>
            <a:off x="1016000" y="19685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应用场景</a:t>
            </a:r>
            <a:endParaRPr lang="en-US" sz="1100"/>
          </a:p>
        </p:txBody>
      </p:sp>
      <p:sp>
        <p:nvSpPr>
          <p:cNvPr id="7" name="AutoShape 7"/>
          <p:cNvSpPr txBox="1"/>
          <p:nvPr/>
        </p:nvSpPr>
        <p:spPr>
          <a:xfrm>
            <a:off x="1016000" y="2540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渗透测试团队报告编制，大幅提升交付效率</a:t>
            </a:r>
            <a:endParaRPr lang="en-US" sz="1100" dirty="0">
              <a:solidFill>
                <a:schemeClr val="tx1">
                  <a:lumMod val="85000"/>
                  <a:lumOff val="15000"/>
                </a:schemeClr>
              </a:solidFill>
            </a:endParaRPr>
          </a:p>
        </p:txBody>
      </p:sp>
      <p:sp>
        <p:nvSpPr>
          <p:cNvPr id="8" name="AutoShape 8"/>
          <p:cNvSpPr txBox="1"/>
          <p:nvPr/>
        </p:nvSpPr>
        <p:spPr>
          <a:xfrm>
            <a:off x="1016000" y="3111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高校网络安全实训教学与演练</a:t>
            </a:r>
            <a:endParaRPr lang="en-US" sz="1100">
              <a:solidFill>
                <a:schemeClr val="tx1">
                  <a:lumMod val="85000"/>
                  <a:lumOff val="15000"/>
                </a:schemeClr>
              </a:solidFill>
            </a:endParaRPr>
          </a:p>
        </p:txBody>
      </p:sp>
      <p:sp>
        <p:nvSpPr>
          <p:cNvPr id="9" name="AutoShape 9"/>
          <p:cNvSpPr txBox="1"/>
          <p:nvPr/>
        </p:nvSpPr>
        <p:spPr>
          <a:xfrm>
            <a:off x="1016000" y="3683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政企安全通报、等保测评与攻防演练</a:t>
            </a:r>
            <a:endParaRPr lang="en-US" sz="1100">
              <a:solidFill>
                <a:schemeClr val="tx1">
                  <a:lumMod val="85000"/>
                  <a:lumOff val="15000"/>
                </a:schemeClr>
              </a:solidFill>
            </a:endParaRPr>
          </a:p>
        </p:txBody>
      </p:sp>
      <p:sp>
        <p:nvSpPr>
          <p:cNvPr id="10" name="AutoShape 10"/>
          <p:cNvSpPr txBox="1"/>
          <p:nvPr/>
        </p:nvSpPr>
        <p:spPr>
          <a:xfrm>
            <a:off x="1016000" y="4254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安全服务团队内部标准化报告生产</a:t>
            </a:r>
            <a:endParaRPr lang="en-US" sz="1100">
              <a:solidFill>
                <a:schemeClr val="tx1">
                  <a:lumMod val="85000"/>
                  <a:lumOff val="15000"/>
                </a:schemeClr>
              </a:solidFill>
            </a:endParaRPr>
          </a:p>
        </p:txBody>
      </p:sp>
      <p:cxnSp>
        <p:nvCxnSpPr>
          <p:cNvPr id="11" name="Connector 11"/>
          <p:cNvCxnSpPr/>
          <p:nvPr/>
        </p:nvCxnSpPr>
        <p:spPr>
          <a:xfrm rot="5387027">
            <a:off x="4413250" y="3644912"/>
            <a:ext cx="3365500" cy="12700"/>
          </a:xfrm>
          <a:prstGeom prst="straightConnector1">
            <a:avLst/>
          </a:prstGeom>
          <a:solidFill>
            <a:srgbClr val="DEE0E3">
              <a:alpha val="100000"/>
            </a:srgbClr>
          </a:solidFill>
          <a:ln w="12700" cap="flat" cmpd="sng">
            <a:solidFill>
              <a:srgbClr val="DCE1EB">
                <a:alpha val="100000"/>
              </a:srgbClr>
            </a:solidFill>
            <a:prstDash val="solid"/>
            <a:round/>
            <a:headEnd type="none" w="med" len="med"/>
            <a:tailEnd type="none" w="med" len="med"/>
          </a:ln>
        </p:spPr>
      </p:cxnSp>
      <p:sp>
        <p:nvSpPr>
          <p:cNvPr id="12" name="AutoShape 12"/>
          <p:cNvSpPr txBox="1"/>
          <p:nvPr/>
        </p:nvSpPr>
        <p:spPr>
          <a:xfrm>
            <a:off x="6477000" y="19685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下一步规划</a:t>
            </a:r>
            <a:endParaRPr lang="en-US" sz="1100"/>
          </a:p>
        </p:txBody>
      </p:sp>
      <p:sp>
        <p:nvSpPr>
          <p:cNvPr id="13" name="AutoShape 13"/>
          <p:cNvSpPr txBox="1"/>
          <p:nvPr/>
        </p:nvSpPr>
        <p:spPr>
          <a:xfrm>
            <a:off x="6477000" y="2540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完善多用户权限与报告流转审批机制</a:t>
            </a:r>
            <a:endParaRPr lang="en-US" sz="1100">
              <a:solidFill>
                <a:schemeClr val="tx1">
                  <a:lumMod val="85000"/>
                  <a:lumOff val="15000"/>
                </a:schemeClr>
              </a:solidFill>
            </a:endParaRPr>
          </a:p>
        </p:txBody>
      </p:sp>
      <p:sp>
        <p:nvSpPr>
          <p:cNvPr id="14" name="AutoShape 14"/>
          <p:cNvSpPr txBox="1"/>
          <p:nvPr/>
        </p:nvSpPr>
        <p:spPr>
          <a:xfrm>
            <a:off x="6477000" y="3111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本地 RAG 升级为漏洞知识图谱，支持反馈学习</a:t>
            </a:r>
            <a:endParaRPr lang="en-US" sz="1100">
              <a:solidFill>
                <a:schemeClr val="tx1">
                  <a:lumMod val="85000"/>
                  <a:lumOff val="15000"/>
                </a:schemeClr>
              </a:solidFill>
            </a:endParaRPr>
          </a:p>
        </p:txBody>
      </p:sp>
      <p:sp>
        <p:nvSpPr>
          <p:cNvPr id="15" name="AutoShape 15"/>
          <p:cNvSpPr txBox="1"/>
          <p:nvPr/>
        </p:nvSpPr>
        <p:spPr>
          <a:xfrm>
            <a:off x="6477000" y="3683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dirty="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扩展更多扫描器格式与批量自动复测</a:t>
            </a:r>
            <a:endParaRPr lang="en-US" sz="1100" dirty="0">
              <a:solidFill>
                <a:schemeClr val="tx1">
                  <a:lumMod val="85000"/>
                  <a:lumOff val="15000"/>
                </a:schemeClr>
              </a:solidFill>
            </a:endParaRPr>
          </a:p>
        </p:txBody>
      </p:sp>
      <p:sp>
        <p:nvSpPr>
          <p:cNvPr id="16" name="AutoShape 16"/>
          <p:cNvSpPr txBox="1"/>
          <p:nvPr/>
        </p:nvSpPr>
        <p:spPr>
          <a:xfrm>
            <a:off x="6477000" y="4254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沉淀行业送检模板，探索模板市场</a:t>
            </a:r>
            <a:endParaRPr lang="en-US" sz="1100">
              <a:solidFill>
                <a:schemeClr val="tx1">
                  <a:lumMod val="85000"/>
                  <a:lumOff val="15000"/>
                </a:schemeClr>
              </a:solidFill>
            </a:endParaRPr>
          </a:p>
        </p:txBody>
      </p:sp>
      <p:cxnSp>
        <p:nvCxnSpPr>
          <p:cNvPr id="17" name="Connector 17"/>
          <p:cNvCxnSpPr/>
          <p:nvPr/>
        </p:nvCxnSpPr>
        <p:spPr>
          <a:xfrm rot="-4297">
            <a:off x="1016004" y="5645150"/>
            <a:ext cx="10160000" cy="12700"/>
          </a:xfrm>
          <a:prstGeom prst="straightConnector1">
            <a:avLst/>
          </a:prstGeom>
          <a:solidFill>
            <a:srgbClr val="DEE0E3">
              <a:alpha val="100000"/>
            </a:srgbClr>
          </a:solidFill>
          <a:ln w="25400" cap="flat" cmpd="sng">
            <a:solidFill>
              <a:srgbClr val="2563EB">
                <a:alpha val="100000"/>
              </a:srgbClr>
            </a:solidFill>
            <a:prstDash val="solid"/>
            <a:round/>
            <a:headEnd type="none" w="lg" len="lg"/>
            <a:tailEnd type="none" w="lg" len="lg"/>
          </a:ln>
        </p:spPr>
      </p:cxnSp>
      <p:sp>
        <p:nvSpPr>
          <p:cNvPr id="18" name="AutoShape 18"/>
          <p:cNvSpPr txBox="1"/>
          <p:nvPr/>
        </p:nvSpPr>
        <p:spPr>
          <a:xfrm>
            <a:off x="1016000" y="5842000"/>
            <a:ext cx="1016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从 12 模块到 14 模块，从"导入式报告生成"到"扫描—生成一体化"能力升级</a:t>
            </a:r>
            <a:endParaRPr lang="en-US" sz="1100"/>
          </a:p>
        </p:txBody>
      </p:sp>
      <p:sp>
        <p:nvSpPr>
          <p:cNvPr id="19" name="AutoShape 19"/>
          <p:cNvSpPr txBox="1"/>
          <p:nvPr/>
        </p:nvSpPr>
        <p:spPr>
          <a:xfrm>
            <a:off x="1016000" y="6477000"/>
            <a:ext cx="508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8C96A5"/>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 智能安全检测与漏洞报告系统</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326">
                <a:alpha val="100000"/>
              </a:srgbClr>
            </a:gs>
            <a:gs pos="60000">
              <a:srgbClr val="142850">
                <a:alpha val="100000"/>
              </a:srgbClr>
            </a:gs>
            <a:gs pos="100000">
              <a:srgbClr val="2563EB">
                <a:alpha val="60000"/>
              </a:srgbClr>
            </a:gs>
          </a:gsLst>
          <a:lin ang="27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BEBA8EAE-BF5A-486C-A8C5-ECC9F3942E4B}">
                <a14:imgProps xmlns:a14="http://schemas.microsoft.com/office/drawing/2010/main">
                  <a14:imgLayer r:embed="rId2">
                    <a14:imgEffect>
                      <a14:artisticPaintStrokes/>
                    </a14:imgEffect>
                  </a14:imgLayer>
                </a14:imgProps>
              </a:ext>
            </a:extLst>
          </a:blip>
          <a:srcRect t="12" b="12"/>
          <a:stretch>
            <a:fillRect/>
          </a:stretch>
        </p:blipFill>
        <p:spPr>
          <a:xfrm>
            <a:off x="0" y="0"/>
            <a:ext cx="12192000" cy="6858000"/>
          </a:xfrm>
          <a:prstGeom prst="rect">
            <a:avLst/>
          </a:prstGeom>
          <a:noFill/>
          <a:ln w="25400" cap="flat" cmpd="sng">
            <a:noFill/>
            <a:prstDash val="solid"/>
            <a:round/>
          </a:ln>
        </p:spPr>
      </p:pic>
      <p:sp>
        <p:nvSpPr>
          <p:cNvPr id="4" name="AutoShape 4"/>
          <p:cNvSpPr txBox="1"/>
          <p:nvPr/>
        </p:nvSpPr>
        <p:spPr>
          <a:xfrm>
            <a:off x="316675" y="809392"/>
            <a:ext cx="4743833" cy="1175729"/>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400" b="1"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 谢 聆 听</a:t>
            </a:r>
            <a:endParaRPr lang="en-US" sz="1100" dirty="0"/>
          </a:p>
        </p:txBody>
      </p:sp>
      <p:sp>
        <p:nvSpPr>
          <p:cNvPr id="5" name="AutoShape 5"/>
          <p:cNvSpPr txBox="1"/>
          <p:nvPr/>
        </p:nvSpPr>
        <p:spPr>
          <a:xfrm>
            <a:off x="774706" y="1836514"/>
            <a:ext cx="4858166" cy="995714"/>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zh-CN" altLang="en-US" sz="2000" b="1" dirty="0">
                <a:solidFill>
                  <a:srgbClr val="D1E8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智安鉴 </a:t>
            </a:r>
            <a:r>
              <a:rPr lang="en-US" altLang="zh-CN" sz="2400" b="1" dirty="0">
                <a:solidFill>
                  <a:srgbClr val="D1E8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2000" b="1" dirty="0" err="1">
                <a:solidFill>
                  <a:srgbClr val="D1E8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智能安全检测与漏洞报告系统</a:t>
            </a:r>
            <a:endParaRPr lang="en-US" altLang="zh-CN" sz="1050" dirty="0">
              <a:solidFill>
                <a:srgbClr val="D1E8FF"/>
              </a:solidFill>
            </a:endParaRPr>
          </a:p>
        </p:txBody>
      </p:sp>
      <p:cxnSp>
        <p:nvCxnSpPr>
          <p:cNvPr id="6" name="Connector 6"/>
          <p:cNvCxnSpPr/>
          <p:nvPr/>
        </p:nvCxnSpPr>
        <p:spPr>
          <a:xfrm rot="-8594">
            <a:off x="3556008" y="5073650"/>
            <a:ext cx="5080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10"/>
          <p:cNvSpPr txBox="1"/>
          <p:nvPr/>
        </p:nvSpPr>
        <p:spPr>
          <a:xfrm>
            <a:off x="10389793" y="6175950"/>
            <a:ext cx="1215109" cy="381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400" b="1" i="0" u="none" strike="noStrike" dirty="0">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年 10 月</a:t>
            </a:r>
            <a:endParaRPr lang="en-US" sz="1100" b="1" dirty="0">
              <a:solidFill>
                <a:schemeClr val="bg1"/>
              </a:solidFill>
            </a:endParaRPr>
          </a:p>
        </p:txBody>
      </p:sp>
      <p:cxnSp>
        <p:nvCxnSpPr>
          <p:cNvPr id="10" name="Connector 8"/>
          <p:cNvCxnSpPr/>
          <p:nvPr/>
        </p:nvCxnSpPr>
        <p:spPr>
          <a:xfrm rot="-4297">
            <a:off x="1089647" y="5797550"/>
            <a:ext cx="10160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4492</Words>
  <Application>WPS 演示</Application>
  <PresentationFormat>宽屏</PresentationFormat>
  <Paragraphs>547</Paragraphs>
  <Slides>19</Slides>
  <Notes>19</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19</vt:i4>
      </vt:variant>
    </vt:vector>
  </HeadingPairs>
  <TitlesOfParts>
    <vt:vector size="30" baseType="lpstr">
      <vt:lpstr>Arial</vt:lpstr>
      <vt:lpstr>宋体</vt:lpstr>
      <vt:lpstr>Wingdings</vt:lpstr>
      <vt:lpstr>Arial</vt:lpstr>
      <vt:lpstr>Noto Sans SC</vt:lpstr>
      <vt:lpstr>Songti SC</vt:lpstr>
      <vt:lpstr>FFont-Family</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宁作我</cp:lastModifiedBy>
  <cp:revision>14</cp:revision>
  <dcterms:created xsi:type="dcterms:W3CDTF">2026-10-25T06:49:43Z</dcterms:created>
  <dcterms:modified xsi:type="dcterms:W3CDTF">2026-10-25T06:50:46Z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{"Label":"1","ContentProducer":"001191110102MACQD9K64010000","ProduceID":"7693513975455419675","ReservedCode1":"","ContentPropagator":"","PropagateID":"","ReservedCode2":""}</vt:lpwstr>
  </property>
  <property fmtid="{D5CDD505-2E9C-101B-9397-08002B2CF9AE}" pid="3" name="ICV">
    <vt:lpwstr>7D917DBC23D84ACEBC374C04FBB58B0D_13</vt:lpwstr>
  </property>
  <property fmtid="{D5CDD505-2E9C-101B-9397-08002B2CF9AE}" pid="4" name="KSOProductBuildVer">
    <vt:lpwstr>2052-12.1.0.23125</vt:lpwstr>
  </property>
</Properties>
</file>